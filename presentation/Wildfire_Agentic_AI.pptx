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6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B6834"/>
                </a:solidFill>
                <a:latin typeface="Calibri"/>
              </a:rPr>
              <a:t>AGENTIC AI  •  COURSE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Agentic Wildfire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C3C2B7"/>
                </a:solidFill>
                <a:latin typeface="Calibri"/>
              </a:rPr>
              <a:t>A multi-agent system that plans, verifies and acts on top of a real-time
wildfire detection pipeline — coordinator, worker agents, critic and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058400" cy="759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dirty="0">
                <a:solidFill>
                  <a:srgbClr val="FFFFFF"/>
                </a:solidFill>
                <a:latin typeface="Calibri"/>
              </a:rPr>
              <a:t>Presented by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:  Pratham</a:t>
            </a:r>
            <a:r>
              <a:rPr lang="en-US" sz="1500" b="0" i="0">
                <a:solidFill>
                  <a:srgbClr val="FFFFFF"/>
                </a:solidFill>
                <a:latin typeface="Calibri"/>
              </a:rPr>
              <a:t> M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Mallya</a:t>
            </a:r>
            <a:r>
              <a:rPr lang="en-US" sz="1500" b="0" i="0" dirty="0">
                <a:solidFill>
                  <a:srgbClr val="FFFFFF"/>
                </a:solidFill>
                <a:latin typeface="Calibri"/>
              </a:rPr>
              <a:t> ,Niranjan S K</a:t>
            </a:r>
            <a:r>
              <a:rPr lang="en-US" sz="1500" b="0" i="0">
                <a:solidFill>
                  <a:srgbClr val="FFFFFF"/>
                </a:solidFill>
                <a:latin typeface="Calibri"/>
              </a:rPr>
              <a:t>, Shashank K </a:t>
            </a:r>
            <a:endParaRPr sz="15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8B93A6"/>
                </a:solidFill>
                <a:latin typeface="Calibri"/>
              </a:rPr>
              <a:t>Guide:  </a:t>
            </a:r>
            <a:r>
              <a:rPr lang="en-US" sz="1300" dirty="0">
                <a:solidFill>
                  <a:srgbClr val="8B93A6"/>
                </a:solidFill>
                <a:latin typeface="Calibri"/>
              </a:rPr>
              <a:t>&lt;Manasa M</a:t>
            </a:r>
            <a:r>
              <a:rPr sz="1300" b="0" i="0" dirty="0">
                <a:solidFill>
                  <a:srgbClr val="8B93A6"/>
                </a:solidFill>
                <a:latin typeface="Calibri"/>
              </a:rPr>
              <a:t>&gt;   •   Department of &lt;AI-ML&gt;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8B93A6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4A3AA7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658368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18488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29384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Why a detection pipeline alone is not enough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76856"/>
            <a:ext cx="658368" cy="56692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368296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29514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Agentic AI Concepts Applied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060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Course concepts → concrete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953512"/>
            <a:ext cx="658368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44952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971800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System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2826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The real-time wildfire pipeline the agents sit 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630168"/>
            <a:ext cx="658368" cy="5669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721608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648456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Multi-Agent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959352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Coordinator / worker / critic hub-and-spoke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306824"/>
            <a:ext cx="658368" cy="5669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98264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325112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The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63600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Planner-delegator, four specialist workers, user-facing chat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983480"/>
            <a:ext cx="658368" cy="56692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001768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Guardrails, Orchestration &amp; Live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312664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Tool allowlists, approval gates, critic verification, real runs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660136"/>
            <a:ext cx="658368" cy="566928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751576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678424"/>
            <a:ext cx="9692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Evaluation &amp; Work 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98932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Agent-level metrics, limitations,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01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From a Model That Predicts to a System That Reasons and 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658368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▪  The pipeline detects — but does not understand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     Our streaming system scores every grid-cell reading and emits tiered alerts (WATCH / WARNING / EMERGENCY). It cannot explain, prioritize or act on them.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▪  Alert volume overwhelms humans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     44,000+ WATCH alerts accumulated in Elasticsearch — no operator can manually verify which ones matter, where, or why now.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▪  Real questions are multi-step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     "Has this location burned before, and does today's alert matter?" requires planning: query alerts → geo-lookup history → weigh severity → draft a response.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▪  Actions need judgment and permission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     Paging a district officer is irreversible and costly — an autonomous system must draft, verify and ask before it acts.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600200"/>
            <a:ext cx="4206240" cy="443484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4A3AA7"/>
                </a:solidFill>
                <a:latin typeface="Calibri"/>
              </a:rPr>
              <a:t>THE GAP AGENTS FILL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94560"/>
            <a:ext cx="36576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Before (pipeline only)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Events → ML score → alert → dashboard. A human must watch, interpret, investigate and decide — continuously.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After (agentic layer)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LLM agents that plan over the pipeline's tools, verify claims against Elasticsearch evidence, check fire history, and draft dispatches — with a human gate on irreversible actions.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Key idea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The pipeline stays the source of truth; agents reason over it, never around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01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Passive Pipeline vs. Agentic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Without agents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 the agentic layer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Which of 44k alerts matter?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Operator scrolls a dashboard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Alert Verifier cross-checks ES evidence and ranks by tier/probability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Did this area burn before?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Manual GIS / archive lookup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Fire History agent runs a geo-query and scores recurrence risk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Is the pipeline itself healthy?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Read Prometheus graphs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Situation agent summarizes latency, throughput, tier counts in words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Notify responders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Hand-written message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Dispatcher drafts from verified evidence; sends only after approval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Trust the answer?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Critic checks every claim against tool evidence before answering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0B0B0B"/>
                </a:solidFill>
                <a:latin typeface="Calibri"/>
              </a:rPr>
              <a:t>Agents do not replace the pipeline — they make it operable.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Every agent capability is grounded in an existing system endpoint (Elasticsearch, the dashboard API, the notifier webhook). The LLM supplies planning, language and judgment; the system supplies 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4A3AA7"/>
                </a:solidFill>
                <a:latin typeface="Calibri"/>
              </a:rPr>
              <a:t>02 AGENTIC AI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Course Concepts → Where Each One Lives in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82296" cy="7132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Tool use /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54480"/>
            <a:ext cx="7635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7 allowlisted tools over ES, the dashboard API and the notifier webhook; the model requests a tool by name, the Toolbelt executes it — never eval of model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59152"/>
            <a:ext cx="82296" cy="713232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Planning &amp; decomposition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77440"/>
            <a:ext cx="7635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Coordinator's PLAN phase turns a user goal into typed JSON subtasks for the worker registry, with a needs_approval flag.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82112"/>
            <a:ext cx="82296" cy="7132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Multi-agent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200400"/>
            <a:ext cx="7635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Hub-and-spoke: 4 specialist workers delegated by the coordinator, run in parallel threads; workers never call each other — every run is a traceable tree.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05072"/>
            <a:ext cx="82296" cy="71323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00507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ReAct loop (bounded)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023360"/>
            <a:ext cx="7635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Each worker interleaves reasoning and tool calls, capped at 4 rounds, tool results truncated to fit small-model contexts.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28032"/>
            <a:ext cx="82296" cy="713232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82803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Reflection / self-critique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846320"/>
            <a:ext cx="7635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A Critic pass re-checks the draft answer against raw tool evidence and flags unsupported claims; the answer is regenerated if ungrounded.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650992"/>
            <a:ext cx="82296" cy="713232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65099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Human-in-the-loop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669280"/>
            <a:ext cx="7635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The only side-effecting tool (send_dispatch) refuses to run without approved=true — drafts are free, sends are gated.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Calibri"/>
              </a:rPr>
              <a:t>03 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the Agents Sit On: The Streaming Backbone (Recap)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084831" cy="1234440"/>
          </a:xfrm>
          <a:prstGeom prst="rect">
            <a:avLst/>
          </a:prstGeom>
          <a:solidFill>
            <a:srgbClr val="F6F5F2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Kafka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86000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raw → features → predictions → alerts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7751" y="2350008"/>
            <a:ext cx="219457" cy="0"/>
          </a:xfrm>
          <a:prstGeom prst="line">
            <a:avLst/>
          </a:prstGeom>
          <a:ln w="222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807208" y="1737360"/>
            <a:ext cx="2084831" cy="1234440"/>
          </a:xfrm>
          <a:prstGeom prst="rect">
            <a:avLst/>
          </a:prstGeom>
          <a:solidFill>
            <a:srgbClr val="F6F5F2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16936" y="1874519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AF7A"/>
                </a:solidFill>
                <a:latin typeface="Calibri"/>
              </a:rPr>
              <a:t>Stream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2286000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validate · dedup · windows · features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39" y="2350008"/>
            <a:ext cx="219457" cy="0"/>
          </a:xfrm>
          <a:prstGeom prst="line">
            <a:avLst/>
          </a:prstGeom>
          <a:ln w="222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111496" y="1737360"/>
            <a:ext cx="2084831" cy="1234440"/>
          </a:xfrm>
          <a:prstGeom prst="rect">
            <a:avLst/>
          </a:prstGeom>
          <a:solidFill>
            <a:srgbClr val="F6F5F2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21224" y="1874519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</a:rPr>
              <a:t>ML detector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286000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RandomForest fire probability + tiers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96327" y="2350008"/>
            <a:ext cx="219457" cy="0"/>
          </a:xfrm>
          <a:prstGeom prst="line">
            <a:avLst/>
          </a:prstGeom>
          <a:ln w="222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415784" y="1737360"/>
            <a:ext cx="2084831" cy="1234440"/>
          </a:xfrm>
          <a:prstGeom prst="rect">
            <a:avLst/>
          </a:prstGeom>
          <a:solidFill>
            <a:srgbClr val="F6F5F2"/>
          </a:solidFill>
          <a:ln w="1905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25512" y="1874519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A3AA7"/>
                </a:solidFill>
                <a:latin typeface="Calibri"/>
              </a:rPr>
              <a:t>Elasticsearch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2286000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wildfire-alerts index (44k+ docs)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00615" y="2350008"/>
            <a:ext cx="219457" cy="0"/>
          </a:xfrm>
          <a:prstGeom prst="line">
            <a:avLst/>
          </a:prstGeom>
          <a:ln w="222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720072" y="1737360"/>
            <a:ext cx="2084831" cy="1234440"/>
          </a:xfrm>
          <a:prstGeom prst="rect">
            <a:avLst/>
          </a:prstGeom>
          <a:solidFill>
            <a:srgbClr val="F6F5F2"/>
          </a:solidFill>
          <a:ln w="19050">
            <a:solidFill>
              <a:srgbClr val="E34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1874519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34948"/>
                </a:solidFill>
                <a:latin typeface="Calibri"/>
              </a:rPr>
              <a:t>Dashboard + notifier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286000"/>
            <a:ext cx="1874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:9991 API · SSE globe · webhook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429000"/>
            <a:ext cx="11155680" cy="1828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56616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4A3AA7"/>
                </a:solidFill>
                <a:latin typeface="Calibri"/>
              </a:rPr>
              <a:t>AGENTIC LAYER  (this project)  —  reads and acts through the interfaces below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3977639"/>
          <a:ext cx="1115568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System interface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exposes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Which agent uses it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Elasticsearch wildfire-alerts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Full-text + tier search; lat/lon range geo queries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Alert Verifier · Fire History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Dashboard API (:9991)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/api/alerts · /api/predictions · /api/stats · /api/search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Situation · Alert Verifier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Notifier webhook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Emergency dispatch channel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Dispatcher (gated)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Pipeline metrics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Latency p50/p95/p99, throughput, tier counts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04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Hub-and-Spoke Multi-Agent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2286000" cy="914400"/>
          </a:xfrm>
          <a:prstGeom prst="rect">
            <a:avLst/>
          </a:prstGeom>
          <a:solidFill>
            <a:srgbClr val="F6F5F2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70078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Calibri"/>
              </a:rPr>
              <a:t>User /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299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2514E"/>
                </a:solidFill>
                <a:latin typeface="Calibri"/>
              </a:rPr>
              <a:t>natural-language goal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80360"/>
            <a:ext cx="2286000" cy="914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29809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Chat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1012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user-facing Q&amp;A (CLI/REPL)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2148840"/>
            <a:ext cx="3108960" cy="173736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224942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Coordinator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96896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PLAN → DELEGATE → VERIFY → SYNTHESIZE
gpt-oss-120b · JSON plans · approval flag
parallel delegation (thread pool)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417320"/>
            <a:ext cx="3429000" cy="969264"/>
          </a:xfrm>
          <a:prstGeom prst="rect">
            <a:avLst/>
          </a:prstGeom>
          <a:solidFill>
            <a:srgbClr val="F6F5F2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4904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Calibri"/>
              </a:rPr>
              <a:t>Alert Verifier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819656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search_alerts · recent_alerts
latest_predictions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587752"/>
            <a:ext cx="3429000" cy="969264"/>
          </a:xfrm>
          <a:prstGeom prst="rect">
            <a:avLst/>
          </a:prstGeom>
          <a:solidFill>
            <a:srgbClr val="F6F5F2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66090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AF7A"/>
                </a:solidFill>
                <a:latin typeface="Calibri"/>
              </a:rPr>
              <a:t>Fire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9008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fire_history (geo) · search_alerts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3758184"/>
            <a:ext cx="3429000" cy="969264"/>
          </a:xfrm>
          <a:prstGeom prst="rect">
            <a:avLst/>
          </a:prstGeom>
          <a:solidFill>
            <a:srgbClr val="F6F5F2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3831336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</a:rPr>
              <a:t>Situation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1605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pipeline_stats · latest_predictions
recent_alerts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4928616"/>
            <a:ext cx="3429000" cy="969264"/>
          </a:xfrm>
          <a:prstGeom prst="rect">
            <a:avLst/>
          </a:prstGeom>
          <a:solidFill>
            <a:srgbClr val="F6F5F2"/>
          </a:solidFill>
          <a:ln w="19050">
            <a:solidFill>
              <a:srgbClr val="E34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500176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E34948"/>
                </a:solidFill>
                <a:latin typeface="Calibri"/>
              </a:rPr>
              <a:t>Dispatcher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330952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2514E"/>
                </a:solidFill>
                <a:latin typeface="Calibri"/>
              </a:rPr>
              <a:t>draft_dispatch · send_dispatch (gated)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4343400"/>
            <a:ext cx="3108960" cy="86868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0" y="44348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Critic (reflection)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7548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every claim must trace to tool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45920" y="2514600"/>
            <a:ext cx="0" cy="365760"/>
          </a:xfrm>
          <a:prstGeom prst="line">
            <a:avLst/>
          </a:prstGeom>
          <a:ln w="222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788920" y="3063240"/>
            <a:ext cx="1188719" cy="274320"/>
          </a:xfrm>
          <a:prstGeom prst="line">
            <a:avLst/>
          </a:prstGeom>
          <a:ln w="222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086600" y="1920240"/>
            <a:ext cx="1188720" cy="777240"/>
          </a:xfrm>
          <a:prstGeom prst="line">
            <a:avLst/>
          </a:prstGeom>
          <a:ln w="222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86600" y="2926080"/>
            <a:ext cx="1188720" cy="137160"/>
          </a:xfrm>
          <a:prstGeom prst="line">
            <a:avLst/>
          </a:prstGeom>
          <a:ln w="222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86600" y="3200400"/>
            <a:ext cx="1188720" cy="1005840"/>
          </a:xfrm>
          <a:prstGeom prst="line">
            <a:avLst/>
          </a:prstGeom>
          <a:ln w="222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86600" y="3429000"/>
            <a:ext cx="1188720" cy="1920240"/>
          </a:xfrm>
          <a:prstGeom prst="line">
            <a:avLst/>
          </a:prstGeom>
          <a:ln w="222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32120" y="3886200"/>
            <a:ext cx="0" cy="457200"/>
          </a:xfrm>
          <a:prstGeom prst="line">
            <a:avLst/>
          </a:prstGeom>
          <a:ln w="22225">
            <a:solidFill>
              <a:srgbClr val="E34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32120" y="5212080"/>
            <a:ext cx="0" cy="411480"/>
          </a:xfrm>
          <a:prstGeom prst="line">
            <a:avLst/>
          </a:prstGeom>
          <a:ln w="22225">
            <a:solidFill>
              <a:srgbClr val="E34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977639" y="56692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E34948"/>
                </a:solidFill>
                <a:latin typeface="Calibri"/>
              </a:rPr>
              <a:t>ungrounded → regenerate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5897880"/>
            <a:ext cx="3429000" cy="50292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598017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Tools → ES :9200 · API :9991 · webhook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97880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Workers: gpt-oss-20b (separate rate-limit bucket)  •  every prompt &amp; tool I/O logged to logs/agent_traces.jsonl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05 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Agent Roster: Roles, Tools and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 (prompt-defined)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Allowlisted tools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ChatAgent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User-facing Q&amp;A; keeps conversational context, hands each turn to the coordinator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— (via coordinator)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gpt-oss-120b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CoordinatorAgent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Planner + delegator: JSON plan, parallel delegation, approval flag, final synthesis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all (via workers)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gpt-oss-120b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AlertVerifierAgent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Confirms/refutes fire claims against ES alert + prediction evidence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search_alerts, recent_alerts, latest_predictions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gpt-oss-20b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FireHistoryAgent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"Has this location burned before?" — geo query + recurrence scoring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fire_history, search_alerts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gpt-oss-20b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SituationAgent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Current conditions + pipeline health in plain language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pipeline_stats, latest_predictions, recent_alerts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gpt-oss-20b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DispatcherAgent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Drafts emergency notifications; sends only with approval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draft_dispatch, send_dispatch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gpt-oss-20b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Critic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Verifies the draft answer is grounded in tool evidence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— (reads evidence)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B0B0B"/>
                          </a:solidFill>
                          <a:latin typeface="Calibri"/>
                        </a:rPr>
                        <a:t>gpt-oss-120b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29200"/>
            <a:ext cx="11155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Why two models?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Groq rate limits are per-model tokens/minute. Planning/verification (large contexts) runs on gpt-oss-120b; workers (small, frequent calls) run on gpt-oss-20b — two independent rate-limit buckets, so coordinator traffic can never starve worker traffic. Also a cost/latency split: big model where reasoning matters, small where it doesn't.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05 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Coordinator: Plan → Delegate → Verify → Synthesize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82296" cy="9144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A3AA7"/>
                </a:solidFill>
                <a:latin typeface="Calibri"/>
              </a:rPr>
              <a:t>1 ·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72768"/>
            <a:ext cx="8869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LLM decomposes the goal into typed subtasks for the worker registry; sets needs_approval if a send/notify is requested.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96895"/>
            <a:ext cx="82296" cy="914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5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2 · DELEGATE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15183"/>
            <a:ext cx="8869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Each subtask runs on its worker in a thread pool (parallel). Unknown workers are rejected; a failed worker degrades to an error note, not a crash.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39310"/>
            <a:ext cx="82296" cy="91440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63931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34948"/>
                </a:solidFill>
                <a:latin typeface="Calibri"/>
              </a:rPr>
              <a:t>3 ·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57598"/>
            <a:ext cx="8869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Critic receives the draft + raw tool evidence; any number, tier, location or timestamp not in the evidence is flagged.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81725"/>
            <a:ext cx="82296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5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AF7A"/>
                </a:solidFill>
                <a:latin typeface="Calibri"/>
              </a:rPr>
              <a:t>4 · SYNTHESIZE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700013"/>
            <a:ext cx="8869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Final answer: Situation (verified facts) → Assessment → Recommended actions; tool failures disclosed, not hidden.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733288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B93A6"/>
                </a:solidFill>
                <a:latin typeface="Calibri"/>
              </a:rPr>
              <a:t>Real plan produced for "Has 24.07, 80.90 burned before?":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{"subtasks": [{"worker": "fire_history", "task": "Check earlier fires at lat 24.07, lon 80.90 and summarize implications"}], "needs_approval": false}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05 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Worker Spotlight: Alert Verifier (the Elasticsearch Checker)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658368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▪  Job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  Given any claim about fire activity, verify it against Elasticsearch — confirm, contradict, or declare unverifiable.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▪  Tools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  search_alerts (full-text + tier), recent_alerts, latest_predictions — read-only.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▪  Method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  Cross-checks alert documents against model predictions: a tier without matching high probability is flagged as suspicious.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▪  Honesty rule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  If tools error or the index is down, it must say so — the system prompt forbids inventing alert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600200"/>
            <a:ext cx="4206240" cy="443484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LIVE OUTPUT (30 OCT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94560"/>
            <a:ext cx="365760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0" i="1">
                <a:solidFill>
                  <a:srgbClr val="52514E"/>
                </a:solidFill>
                <a:latin typeface="Calibri"/>
              </a:rPr>
              <a:t>Query: "Any active WARNING or EMERGENCY alerts right now?"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"No active wildfire alerts with severity WARNING or EMERGENCY were found in Elasticsearch. The search returned zero results for both tiers."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98781"/>
                </a:solidFill>
                <a:latin typeface="Calibri"/>
              </a:rPr>
              <a:t>Verified against 44,473 indexed alert documents — all currently WATCH tier.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BAF7A"/>
                </a:solidFill>
                <a:latin typeface="Calibri"/>
              </a:rPr>
              <a:t>05 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Worker Spotlight: Fire History (Has This Place Burned Before?)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658368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▪  Job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  Geo-lookup of prior alerts around any lat/lon, then a plain-language recurrence verdict for planners.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▪  Geo query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  The index stores lat/lon floats (not geo_point), so the tool runs a bounding-box range query server-side, then refines to a true radius with haversine client-side.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▪  Recurrence rule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  Severity-weighted score — WATCH×1, WARNING×3, EMERGENCY×6 — with an automatic 'high' if any prior EMERGENCY exists.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B0B0B"/>
                </a:solidFill>
                <a:latin typeface="Calibri"/>
              </a:rPr>
              <a:t>▪  Why it matters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     A WATCH in a never-burned grid cell is noise; the same WATCH in a cell with 200 prior alerts is a pattern — context the raw pipeline cannot supply.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600200"/>
            <a:ext cx="4206240" cy="443484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BAF7A"/>
                </a:solidFill>
                <a:latin typeface="Calibri"/>
              </a:rPr>
              <a:t>LIVE OUTPUT — 24.07°N, 80.90°E, 25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240280"/>
            <a:ext cx="365760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EB6834"/>
                </a:solidFill>
                <a:latin typeface="Calibri"/>
              </a:rPr>
              <a:t>200 prior alerts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all WATCH tier · most recent 30 Oct 2026, 0.5 km away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1" i="0">
                <a:solidFill>
                  <a:srgbClr val="E34948"/>
                </a:solidFill>
                <a:latin typeface="Calibri"/>
              </a:rPr>
              <a:t>Recurrence score 200 → level: HIGH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0B0B0B"/>
                </a:solidFill>
                <a:latin typeface="Calibri"/>
              </a:rPr>
              <a:t>"Frequent ignition-favourable conditions… elevated risk of fire starts when dry fuels, wind and heat align."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34948"/>
                </a:solidFill>
                <a:latin typeface="Calibri"/>
              </a:rPr>
              <a:t>05 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Worker Spotlight: Situation &amp; Dispatcher (the Action Agents)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60350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▪  SituationAgent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     Reads /api/stats, latest predictions and recent alerts; separates the *fire* situation from *system* health — "no WARNINGs active; p95 latency 219 ms; 50 events/s; ES up".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▪  DispatcherAgent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     Turns verified findings into a dispatch: tier, region, key evidence, one recommended 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94760"/>
            <a:ext cx="6035040" cy="219456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34948"/>
                </a:solidFill>
                <a:latin typeface="Calibri"/>
              </a:rPr>
              <a:t>THE APPROVAL GATE (CODE, NOT PROMPT)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6235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0B0B0B"/>
                </a:solidFill>
                <a:latin typeface="Consolas"/>
              </a:rPr>
              <a:t>def send_dispatch(message, approved=False):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0B0B0B"/>
                </a:solidFill>
                <a:latin typeface="Consolas"/>
              </a:rPr>
              <a:t>    if not approved: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0B0B0B"/>
                </a:solidFill>
                <a:latin typeface="Consolas"/>
              </a:rPr>
              <a:t>        return {"sent": False, "refused": True,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onsolas"/>
              </a:rPr>
              <a:t>                "reason": "requires approval gate"}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630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34948"/>
                </a:solidFill>
                <a:latin typeface="Calibri"/>
              </a:rPr>
              <a:t>HUMAN-IN-THE-LOOP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847088"/>
            <a:ext cx="384048" cy="384048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189280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9280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User asks: "notify the district officer"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560320"/>
            <a:ext cx="384048" cy="38404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260604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6060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Planner sets needs_approval=true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273552"/>
            <a:ext cx="384048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33192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31927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Dispatcher DRAFTS only — send refused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3986784"/>
            <a:ext cx="384048" cy="3840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403250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03250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Coordinator returns draft + ⚠ approval request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4700016"/>
            <a:ext cx="384048" cy="38404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474573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745736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Human says yes → re-run with approved=true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5413248"/>
            <a:ext cx="384048" cy="3840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545896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4589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B0B0B"/>
                </a:solidFill>
                <a:latin typeface="Calibri"/>
              </a:rPr>
              <a:t>Webhook fires; audit trail in trace 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34948"/>
                </a:solidFill>
                <a:latin typeface="Calibri"/>
              </a:rPr>
              <a:t>06 GUARDRAILS &amp;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Safety and Reliability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Failure it prevents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Tool allowlist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Model picks a name; Toolbelt maps it to a function. Anything unlisted → rejected.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Arbitrary code execution / prompt-injection damage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Approval gate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send_dispatch refuses without approved=true; the flag comes from the human, never the model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Autonomous paging of real responders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Critic verification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Every quantitative claim must trace to raw tool evidence; ungrounded drafts are regenerated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Hallucinated alerts presented as fact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Bounded loops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Max 4 tool rounds/worker; tool results truncated to 2,000 chars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Runaway agents; context overflow (413)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Graceful degradation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Tool errors return {"unavailable": true}; a dead worker becomes an error note the answer must disclose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Silent wrong answers when ES/API is down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Full trace logging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Every prompt, tool call and result appended to logs/agent_traces.jsonl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Irreproducible behavior; no audit trail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Retry + backoff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429-aware backoff (8/20/40/60 s); per-model rate buckets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Rate-limit collapse under parallel workers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34948"/>
                </a:solidFill>
                <a:latin typeface="Calibri"/>
              </a:rPr>
              <a:t>06 GUARDRAILS &amp;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Anatomy of One Run (Live Fire-History Query)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35608"/>
            <a:ext cx="2011680" cy="32004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FROM →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81328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898781"/>
                </a:solidFill>
                <a:latin typeface="Calibri"/>
              </a:rPr>
              <a:t>MESSAGE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65376"/>
            <a:ext cx="2011680" cy="457200"/>
          </a:xfrm>
          <a:prstGeom prst="rect">
            <a:avLst/>
          </a:prstGeom>
          <a:solidFill>
            <a:srgbClr val="F6F5F2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User → ChatAgent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38528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"Has the area around 24.07, 80.90 had earlier fires? What does that imply?"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00300"/>
            <a:ext cx="2011680" cy="457200"/>
          </a:xfrm>
          <a:prstGeom prst="rect">
            <a:avLst/>
          </a:prstGeom>
          <a:solidFill>
            <a:srgbClr val="F6F5F2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50088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ChatAgent → Coordinator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73452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goal handed off for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35224"/>
            <a:ext cx="2011680" cy="457200"/>
          </a:xfrm>
          <a:prstGeom prst="rect">
            <a:avLst/>
          </a:prstGeom>
          <a:solidFill>
            <a:srgbClr val="F6F5F2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03580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4A3AA7"/>
                </a:solidFill>
                <a:latin typeface="Calibri"/>
              </a:rPr>
              <a:t>Coordinator → LLM (120b)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008376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PLAN → 1 subtask: fire_history worker, needs_approval=false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70148"/>
            <a:ext cx="2011680" cy="457200"/>
          </a:xfrm>
          <a:prstGeom prst="rect">
            <a:avLst/>
          </a:prstGeom>
          <a:solidFill>
            <a:srgbClr val="F6F5F2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5707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EB6834"/>
                </a:solidFill>
                <a:latin typeface="Calibri"/>
              </a:rPr>
              <a:t>Coordinator → FireHistoryAgent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543300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DELEGATE (thread pool)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05072"/>
            <a:ext cx="2011680" cy="457200"/>
          </a:xfrm>
          <a:prstGeom prst="rect">
            <a:avLst/>
          </a:prstGeom>
          <a:solidFill>
            <a:srgbClr val="F6F5F2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10565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BAF7A"/>
                </a:solidFill>
                <a:latin typeface="Calibri"/>
              </a:rPr>
              <a:t>FireHistoryAgent → Toolbelt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078224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fire_history(lat=24.07, lon=80.90, radius_km=25)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39996"/>
            <a:ext cx="2011680" cy="457200"/>
          </a:xfrm>
          <a:prstGeom prst="rect">
            <a:avLst/>
          </a:prstGeom>
          <a:solidFill>
            <a:srgbClr val="F6F5F2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6405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BAF7A"/>
                </a:solidFill>
                <a:latin typeface="Calibri"/>
              </a:rPr>
              <a:t>Toolbelt → Elasticsearch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613148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bounding-box range query → 200 hits → haversine refine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074920"/>
            <a:ext cx="2011680" cy="457200"/>
          </a:xfrm>
          <a:prstGeom prst="rect">
            <a:avLst/>
          </a:prstGeom>
          <a:solidFill>
            <a:srgbClr val="F6F5F2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17550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EB6834"/>
                </a:solidFill>
                <a:latin typeface="Calibri"/>
              </a:rPr>
              <a:t>FireHistoryAgent → Coordinator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148072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findings: 200 WATCH, score 200 → HIGH recurrence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609844"/>
            <a:ext cx="2011680" cy="457200"/>
          </a:xfrm>
          <a:prstGeom prst="rect">
            <a:avLst/>
          </a:prstGeom>
          <a:solidFill>
            <a:srgbClr val="F6F5F2"/>
          </a:solidFill>
          <a:ln w="12700">
            <a:solidFill>
              <a:srgbClr val="E34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7104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E34948"/>
                </a:solidFill>
                <a:latin typeface="Calibri"/>
              </a:rPr>
              <a:t>Coordinator → Critic (120b)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682996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VERIFY draft vs evidence → 1 issue caught (latest-alert timestamp)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144768"/>
            <a:ext cx="2011680" cy="457200"/>
          </a:xfrm>
          <a:prstGeom prst="rect">
            <a:avLst/>
          </a:prstGeom>
          <a:solidFill>
            <a:srgbClr val="F6F5F2"/>
          </a:solidFill>
          <a:ln w="12700">
            <a:solidFill>
              <a:srgbClr val="0B0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62453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B0B0B"/>
                </a:solidFill>
                <a:latin typeface="Calibri"/>
              </a:rPr>
              <a:t>Coordinator → User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6217920"/>
            <a:ext cx="8869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SYNTHESIZE → Situation / Assessment / Recommended actions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34948"/>
                </a:solidFill>
                <a:latin typeface="Calibri"/>
              </a:rPr>
              <a:t>06 GUARDRAILS &amp;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Live Demo Results (Real Runs, 30–31 Oct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00" cy="448056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BAF7A"/>
                </a:solidFill>
                <a:latin typeface="Calibri"/>
              </a:rPr>
              <a:t>SCENARIO A — LOCATION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07492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2514E"/>
                </a:solidFill>
                <a:latin typeface="Calibri"/>
              </a:rPr>
              <a:t>Q: "Has 24.07, 80.90 had earlier fires? What does that imply?"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Plan: 1 subtask → fire_history worker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Evidence: 200 prior alerts in 25 km, all WATCH, latest 0.5 km away; recurrence HIGH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E34948"/>
                </a:solidFill>
                <a:latin typeface="Calibri"/>
              </a:rPr>
              <a:t>Critic: caught a wrong "most recent alert" timestamp in the draft → final answer corrected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Answer: Situation → Assessment ("elevated risk of fire starts") → 5 recommended actions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98781"/>
                </a:solidFill>
                <a:latin typeface="Calibri"/>
              </a:rPr>
              <a:t>End-to-end: ~35 s, 4 LLM calls, 1 ES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394960" cy="448056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34948"/>
                </a:solidFill>
                <a:latin typeface="Calibri"/>
              </a:rPr>
              <a:t>SCENARIO B — GRACEFUL DEGRADATION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98348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2514E"/>
                </a:solidFill>
                <a:latin typeface="Calibri"/>
              </a:rPr>
              <a:t>Q: "Any WARNING/EMERGENCY alerts? Is the pipeline healthy?"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Plan: 2 subtasks → alert_verifier + situation (parallel)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Verifier: "Zero WARNING/EMERGENCY in ES" ✓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E34948"/>
                </a:solidFill>
                <a:latin typeface="Calibri"/>
              </a:rPr>
              <a:t>Situation worker: Groq API context overflow → worker failed after backoff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Final answer disclosed the failure instead of hiding it: "The situation worker did not return data… this does not affect the alert status."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BAF7A"/>
                </a:solidFill>
                <a:latin typeface="Calibri"/>
              </a:rPr>
              <a:t>→ the guardrail worked: partial truth, honestly labelled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B6B6B"/>
                </a:solidFill>
                <a:latin typeface="Calibri"/>
              </a:rPr>
              <a:t>06 GUARDRAILS &amp;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Implementation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54864" marT="27432" marB="27432" anchor="ctr"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73152" marR="54864" marT="27432" marB="27432" anchor="ctr"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54864" marT="27432" marB="27432" anchor="ctr">
                    <a:solidFill>
                      <a:srgbClr val="6B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LLM backend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Groq API (OpenAI-compatible chat completions)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Fast inference, generous free tier, native tool calling + JSON mode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Coordinator / Critic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openai/gpt-oss-120b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Largest context for plans, synthesis, evidence checking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Workers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openai/gpt-oss-20b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Separate rate-limit bucket; cheap, fast, tool-capable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Agent framework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None — ~450 lines of plain Python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Full control of the loop; every design decision visible for the course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requests → ES :9200, dashboard API :9991, notifier webhook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Zero new infrastructure — agents ride the existing system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Concurrency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ThreadPoolExecutor over subtasks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Workers run in parallel; wall-clock ≈ slowest worker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logs/agent_traces.jsonl (every prompt + tool I/O)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Reproducibility, audit, debugging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Resilience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Timeout 30 s · 4 retries · 429-aware backoff · degradation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Network calls are never trusted</a:t>
                      </a:r>
                    </a:p>
                  </a:txBody>
                  <a:tcPr marL="73152" marR="54864" marT="27432" marB="27432" anchor="ctr">
                    <a:solidFill>
                      <a:srgbClr val="F6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120640"/>
            <a:ext cx="11155680" cy="105156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23036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8B93A6"/>
                </a:solidFill>
                <a:latin typeface="Calibri"/>
              </a:rPr>
              <a:t>Run it: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export GROQ_API_KEY=…    python -m agents.chat "has 24.07, 80.90 burned before?"    python -m agents.demo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B6B6B"/>
                </a:solidFill>
                <a:latin typeface="Calibri"/>
              </a:rPr>
              <a:t>07 EVALUATION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How We Evaluate the Agent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658368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▪  Task completion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     Did the plan cover the goal? Measured over a scenario set (history lookup, situation report, verification, dispatch draft).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▪  Groundedness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     Critic pass rate: fraction of answers whose claims all trace to tool evidence — target 100%, critic catches the rest.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▪  Tool-call correctness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     Valid tool names, valid argument types, no allowlist violations (0 observed).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▪  Latency &amp; cost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     ~30–45 s end-to-end per complex query; 3–8 LLM calls; two-model split keeps the 8k TPM free tier viable.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▪  Honest limitations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     Small worker model can overflow context on large tool payloads (mitigated by truncation); plans occasionally under-decompose compound questions; ES geo is bounding-box + haversine, not a true geo_point index.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600200"/>
            <a:ext cx="4206240" cy="443484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B6B6B"/>
                </a:solidFill>
                <a:latin typeface="Calibri"/>
              </a:rPr>
              <a:t>MEASURED SO 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94560"/>
            <a:ext cx="36576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900" b="1" i="0">
                <a:solidFill>
                  <a:srgbClr val="1BAF7A"/>
                </a:solidFill>
                <a:latin typeface="Calibri"/>
              </a:rPr>
              <a:t>3/3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canonical scenarios completed end-to-end against the live pipeline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900" b="1" i="0">
                <a:solidFill>
                  <a:srgbClr val="E34948"/>
                </a:solidFill>
                <a:latin typeface="Calibri"/>
              </a:rPr>
              <a:t>1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hallucinated timestamp caught by the critic before reaching the user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900" b="1" i="0">
                <a:solidFill>
                  <a:srgbClr val="4A3AA7"/>
                </a:solidFill>
                <a:latin typeface="Calibri"/>
              </a:rPr>
              <a:t>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ungated sends — approval gate refused every unauthorized dispatch attempt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B6B6B"/>
                </a:solidFill>
                <a:latin typeface="Calibri"/>
              </a:rPr>
              <a:t>07 EVALUATION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Work Completed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98781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Agentic Wildfire Intelligence |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AF7A"/>
                </a:solidFill>
                <a:latin typeface="Calibri"/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▪  Multi-agent architecture: coordinator (plan/delegate/verify/synthesize) + 4 workers + critic + chat CLI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▪  7 allowlisted tools over Elasticsearch, dashboard API and notifier webhook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▪  Approval gate on the only side-effecting action (dispatch)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▪  Full trace logging; 429-aware retry; bounded ReAct loops; graceful degradation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▪  Live validation against the running pipeline (44k+ indexed alerts)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▪  Event-driven triggering: agent auto-investigates each EMERGENCY alert from the Kafka topic (no human prompt needed)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▪  Memory: per-location case files so recurring areas accumulate context across runs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▪  Richer workers: weather-forecast tool, evacuation-route planner, resource estimator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▪  Formal eval harness: scenario suite with groundedness scoring in CI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▪  Web UI: embed the chat agent into the 3D dashboard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C3C2B7"/>
                </a:solidFill>
                <a:latin typeface="Calibri"/>
              </a:rPr>
              <a:t>Questions &amp; live demo:  python -m agents.chat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8B93A6"/>
                </a:solidFill>
                <a:latin typeface="Calibri"/>
              </a:rPr>
              <a:t>Agentic Wildfire Intelligence — agents that plan, verify and act on a real-time fire pipeline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8B93A6"/>
                </a:solidFill>
                <a:latin typeface="Calibri"/>
              </a:rPr>
              <a:t>Pratham Mallya  •  Agentic AI  • 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3155</Words>
  <Application>Microsoft Macintosh PowerPoint</Application>
  <PresentationFormat>Widescreen</PresentationFormat>
  <Paragraphs>398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Pratham Mallya</cp:lastModifiedBy>
  <cp:revision>2</cp:revision>
  <dcterms:created xsi:type="dcterms:W3CDTF">2013-01-27T09:14:16Z</dcterms:created>
  <dcterms:modified xsi:type="dcterms:W3CDTF">2026-10-31T17:45:35Z</dcterms:modified>
  <cp:category/>
</cp:coreProperties>
</file>