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88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34"/>
    <p:restoredTop sz="94675"/>
  </p:normalViewPr>
  <p:slideViewPr>
    <p:cSldViewPr snapToGrid="0" snapToObjects="1">
      <p:cViewPr varScale="1">
        <p:scale>
          <a:sx n="95" d="100"/>
          <a:sy n="95" d="100"/>
        </p:scale>
        <p:origin x="200" y="8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D3C71AE0-D6B8-20E6-9749-AACFEEE6C3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5559" y="1981600"/>
            <a:ext cx="9300882" cy="316099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B790B1A-DA69-29F9-57C6-17A9DC83599D}"/>
              </a:ext>
            </a:extLst>
          </p:cNvPr>
          <p:cNvSpPr txBox="1"/>
          <p:nvPr/>
        </p:nvSpPr>
        <p:spPr>
          <a:xfrm>
            <a:off x="1730188" y="1269813"/>
            <a:ext cx="10609729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lang="en-IN" sz="3000" b="1" i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: </a:t>
            </a:r>
            <a:r>
              <a:rPr lang="en-IN" sz="3000" b="1" i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Forest Fire Detection System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0DAD482-7B04-DD2A-EE1A-75F8C570F736}"/>
              </a:ext>
            </a:extLst>
          </p:cNvPr>
          <p:cNvSpPr txBox="1"/>
          <p:nvPr/>
        </p:nvSpPr>
        <p:spPr>
          <a:xfrm>
            <a:off x="4483472" y="634970"/>
            <a:ext cx="2710704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lang="en-IN" sz="2500" b="1" i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VII SEMESTER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A15B1FE2-1C1F-7A0B-BF4C-F7B5DB11A4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50" y="239522"/>
            <a:ext cx="2889155" cy="111379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09B63DA-A9A7-BC8B-B482-89B629DD62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84770" y="338201"/>
            <a:ext cx="2540000" cy="50800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C8C9E051-B171-FDC1-69E0-8BC4D7AA0A62}"/>
              </a:ext>
            </a:extLst>
          </p:cNvPr>
          <p:cNvSpPr txBox="1"/>
          <p:nvPr/>
        </p:nvSpPr>
        <p:spPr>
          <a:xfrm>
            <a:off x="1730188" y="5142598"/>
            <a:ext cx="848509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IN" b="1" i="0">
                <a:solidFill>
                  <a:srgbClr val="FF0000"/>
                </a:solidFill>
                <a:effectLst/>
                <a:latin typeface="+mn-lt"/>
              </a:rPr>
              <a:t>MENTORS : 		</a:t>
            </a:r>
            <a:r>
              <a:rPr lang="en-IN" b="1" i="0">
                <a:effectLst/>
                <a:latin typeface="+mn-lt"/>
              </a:rPr>
              <a:t>Dr. S.  Anupama kumar &amp; Dr. Vijayalakshmi M N</a:t>
            </a:r>
          </a:p>
          <a:p>
            <a:pPr>
              <a:lnSpc>
                <a:spcPct val="100000"/>
              </a:lnSpc>
              <a:buNone/>
            </a:pPr>
            <a:r>
              <a:rPr lang="en-IN" b="1" i="0">
                <a:effectLst/>
                <a:latin typeface="+mn-lt"/>
              </a:rPr>
              <a:t> </a:t>
            </a:r>
          </a:p>
          <a:p>
            <a:pPr>
              <a:lnSpc>
                <a:spcPct val="100000"/>
              </a:lnSpc>
              <a:buNone/>
            </a:pPr>
            <a:r>
              <a:rPr lang="en-IN" b="0" i="0">
                <a:effectLst/>
                <a:latin typeface="+mn-lt"/>
              </a:rPr>
              <a:t>						Associate Professor,</a:t>
            </a:r>
            <a:endParaRPr lang="en-IN">
              <a:effectLst/>
              <a:latin typeface="+mn-lt"/>
            </a:endParaRPr>
          </a:p>
          <a:p>
            <a:pPr>
              <a:lnSpc>
                <a:spcPct val="100000"/>
              </a:lnSpc>
              <a:buNone/>
            </a:pPr>
            <a:r>
              <a:rPr lang="en-IN" b="0" i="0">
                <a:effectLst/>
                <a:latin typeface="+mn-lt"/>
              </a:rPr>
              <a:t>		Department of Artificial Intelligence and Machine Learning</a:t>
            </a:r>
            <a:endParaRPr lang="en-IN">
              <a:effectLst/>
              <a:latin typeface="+mn-lt"/>
            </a:endParaRPr>
          </a:p>
          <a:p>
            <a:pPr>
              <a:lnSpc>
                <a:spcPct val="100000"/>
              </a:lnSpc>
              <a:buNone/>
            </a:pPr>
            <a:r>
              <a:rPr lang="en-IN" b="0" i="0">
                <a:effectLst/>
                <a:latin typeface="+mn-lt"/>
              </a:rPr>
              <a:t>					RV College of Engineering</a:t>
            </a:r>
            <a:r>
              <a:rPr lang="en-IN"/>
              <a:t>, </a:t>
            </a:r>
            <a:r>
              <a:rPr lang="en-IN" b="0" i="0">
                <a:effectLst/>
                <a:latin typeface="+mn-lt"/>
              </a:rPr>
              <a:t>Bengaluru-59</a:t>
            </a:r>
            <a:endParaRPr lang="en-IN">
              <a:effectLst/>
              <a:latin typeface="YAGzXW3gftg_0"/>
            </a:endParaRPr>
          </a:p>
        </p:txBody>
      </p:sp>
    </p:spTree>
    <p:extLst>
      <p:ext uri="{BB962C8B-B14F-4D97-AF65-F5344CB8AC3E}">
        <p14:creationId xmlns:p14="http://schemas.microsoft.com/office/powerpoint/2010/main" val="31803159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EB6834"/>
                </a:solidFill>
                <a:latin typeface="Calibri"/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55664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000" b="0" i="0">
                <a:solidFill>
                  <a:srgbClr val="898781"/>
                </a:solidFill>
                <a:latin typeface="Calibri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98781"/>
                </a:solidFill>
                <a:latin typeface="Calibri"/>
              </a:rPr>
              <a:t>Real-Time Forest Fire Detection | Kafka &amp; Stream Processing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1600200"/>
            <a:ext cx="658368" cy="566928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1691640"/>
            <a:ext cx="65836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618488"/>
            <a:ext cx="96926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700" b="1" i="0">
                <a:solidFill>
                  <a:srgbClr val="0B0B0B"/>
                </a:solidFill>
                <a:latin typeface="Calibri"/>
              </a:rPr>
              <a:t>Introduction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1929384"/>
            <a:ext cx="9692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52514E"/>
                </a:solidFill>
                <a:latin typeface="Calibri"/>
              </a:rPr>
              <a:t>Problem, motivation, why real-time streaming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2276856"/>
            <a:ext cx="658368" cy="566928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" y="2368296"/>
            <a:ext cx="65836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2295144"/>
            <a:ext cx="96926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700" b="1" i="0">
                <a:solidFill>
                  <a:srgbClr val="0B0B0B"/>
                </a:solidFill>
                <a:latin typeface="Calibri"/>
              </a:rPr>
              <a:t>Dataset Description &amp; EDA Results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91640" y="2606040"/>
            <a:ext cx="9692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52514E"/>
                </a:solidFill>
                <a:latin typeface="Calibri"/>
              </a:rPr>
              <a:t>gridMET fire-weather dataset, 12 exploratory analyses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2953512"/>
            <a:ext cx="658368" cy="566928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2960" y="3044952"/>
            <a:ext cx="65836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91640" y="2971800"/>
            <a:ext cx="96926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700" b="1" i="0">
                <a:solidFill>
                  <a:srgbClr val="0B0B0B"/>
                </a:solidFill>
                <a:latin typeface="Calibri"/>
              </a:rPr>
              <a:t>Literature Review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91640" y="3282696"/>
            <a:ext cx="9692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52514E"/>
                </a:solidFill>
                <a:latin typeface="Calibri"/>
              </a:rPr>
              <a:t>32 papers across 7 research themes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3630168"/>
            <a:ext cx="658368" cy="566928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2960" y="3721608"/>
            <a:ext cx="65836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91640" y="3648456"/>
            <a:ext cx="96926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700" b="1" i="0">
                <a:solidFill>
                  <a:srgbClr val="0B0B0B"/>
                </a:solidFill>
                <a:latin typeface="Calibri"/>
              </a:rPr>
              <a:t>Summary of Literature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91640" y="3959352"/>
            <a:ext cx="9692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52514E"/>
                </a:solidFill>
                <a:latin typeface="Calibri"/>
              </a:rPr>
              <a:t>Synthesis, comparison and identified gaps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" y="4306824"/>
            <a:ext cx="658368" cy="566928"/>
          </a:xfrm>
          <a:prstGeom prst="rect">
            <a:avLst/>
          </a:prstGeom>
          <a:solidFill>
            <a:srgbClr val="4A3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22960" y="4398264"/>
            <a:ext cx="65836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91640" y="4325112"/>
            <a:ext cx="96926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700" b="1" i="0">
                <a:solidFill>
                  <a:srgbClr val="0B0B0B"/>
                </a:solidFill>
                <a:latin typeface="Calibri"/>
              </a:rPr>
              <a:t>Objectives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91640" y="4636008"/>
            <a:ext cx="9692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52514E"/>
                </a:solidFill>
                <a:latin typeface="Calibri"/>
              </a:rPr>
              <a:t>Six concrete system objectives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22960" y="4983480"/>
            <a:ext cx="658368" cy="566928"/>
          </a:xfrm>
          <a:prstGeom prst="rect">
            <a:avLst/>
          </a:prstGeom>
          <a:solidFill>
            <a:srgbClr val="E349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22960" y="5074920"/>
            <a:ext cx="65836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91640" y="5001768"/>
            <a:ext cx="96926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700" b="1" i="0">
                <a:solidFill>
                  <a:srgbClr val="0B0B0B"/>
                </a:solidFill>
                <a:latin typeface="Calibri"/>
              </a:rPr>
              <a:t>Proposed Methodology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91640" y="5312664"/>
            <a:ext cx="9692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52514E"/>
                </a:solidFill>
                <a:latin typeface="Calibri"/>
              </a:rPr>
              <a:t>Kafka pipeline architecture &amp; design decisions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2960" y="5660136"/>
            <a:ext cx="658368" cy="566928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22960" y="5751576"/>
            <a:ext cx="65836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07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691640" y="5678424"/>
            <a:ext cx="96926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700" b="1" i="0">
                <a:solidFill>
                  <a:srgbClr val="0B0B0B"/>
                </a:solidFill>
                <a:latin typeface="Calibri"/>
              </a:rPr>
              <a:t>Percentage of Work Completed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691640" y="5989320"/>
            <a:ext cx="9692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52514E"/>
                </a:solidFill>
                <a:latin typeface="Calibri"/>
              </a:rPr>
              <a:t>Module-wise progress and remaining plan</a:t>
            </a:r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77393DB1-CC0A-952C-E461-F619D581FD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50" y="239522"/>
            <a:ext cx="2889155" cy="1113790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8CC13D95-49D7-AD46-06A6-A93C859017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84770" y="338201"/>
            <a:ext cx="2540000" cy="508000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4796BA15-1978-D281-A901-EE568CA2D34F}"/>
              </a:ext>
            </a:extLst>
          </p:cNvPr>
          <p:cNvSpPr txBox="1"/>
          <p:nvPr/>
        </p:nvSpPr>
        <p:spPr>
          <a:xfrm>
            <a:off x="3825240" y="451842"/>
            <a:ext cx="11155680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600" b="1" i="0">
                <a:solidFill>
                  <a:srgbClr val="EB6834"/>
                </a:solidFill>
                <a:latin typeface="Calibri"/>
              </a:rPr>
              <a:t> </a:t>
            </a:r>
            <a:r>
              <a:rPr lang="en-US" sz="3600" b="1" i="0">
                <a:solidFill>
                  <a:srgbClr val="EB6834"/>
                </a:solidFill>
                <a:latin typeface="Calibri"/>
              </a:rPr>
              <a:t>AGENDA</a:t>
            </a:r>
            <a:endParaRPr sz="3600" b="1" i="0">
              <a:solidFill>
                <a:srgbClr val="EB6834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825240" y="451842"/>
            <a:ext cx="11155680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600" b="1" i="0">
                <a:solidFill>
                  <a:srgbClr val="EB6834"/>
                </a:solidFill>
                <a:latin typeface="Calibri"/>
              </a:rPr>
              <a:t>01 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55664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000" b="0" i="0">
                <a:solidFill>
                  <a:srgbClr val="898781"/>
                </a:solidFill>
                <a:latin typeface="Calibri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98781"/>
                </a:solidFill>
                <a:latin typeface="Calibri"/>
              </a:rPr>
              <a:t>Real-Time Forest Fire Detection | Kafka &amp; Stream Processing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925598"/>
            <a:ext cx="6385560" cy="296491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450" b="1" i="0">
                <a:solidFill>
                  <a:srgbClr val="0B0B0B"/>
                </a:solidFill>
                <a:latin typeface="Calibri"/>
              </a:rPr>
              <a:t>▪  Escalating fire regime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350" b="0" i="0">
                <a:solidFill>
                  <a:srgbClr val="52514E"/>
                </a:solidFill>
                <a:latin typeface="Calibri"/>
              </a:rPr>
              <a:t>     Climate change extends fire seasons and raises fuel dryness; recent western-US fire years burned record areas.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450" b="1" i="0">
                <a:solidFill>
                  <a:srgbClr val="0B0B0B"/>
                </a:solidFill>
                <a:latin typeface="Calibri"/>
              </a:rPr>
              <a:t>▪  Detection latency is the bottleneck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350" b="0" i="0">
                <a:solidFill>
                  <a:srgbClr val="52514E"/>
                </a:solidFill>
                <a:latin typeface="Calibri"/>
              </a:rPr>
              <a:t>     Satellite passes and manual reports lag ignition by tens of minutes to hours; every minute of delay multiplies containment cost and risk.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450" b="1" i="0">
                <a:solidFill>
                  <a:srgbClr val="0B0B0B"/>
                </a:solidFill>
                <a:latin typeface="Calibri"/>
              </a:rPr>
              <a:t>▪  Fire danger is predictable from weather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350" b="0" i="0">
                <a:solidFill>
                  <a:srgbClr val="52514E"/>
                </a:solidFill>
                <a:latin typeface="Calibri"/>
              </a:rPr>
              <a:t>     Temperature, humidity, wind, fuel moisture and energy-release indices co-move hours ahead of ignition - a strong, continuously available signal.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450" b="1" i="0">
                <a:solidFill>
                  <a:srgbClr val="0B0B0B"/>
                </a:solidFill>
                <a:latin typeface="Calibri"/>
              </a:rPr>
              <a:t>▪  Data exists, but is batch-bound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350" b="0" i="0">
                <a:solidFill>
                  <a:srgbClr val="52514E"/>
                </a:solidFill>
                <a:latin typeface="Calibri"/>
              </a:rPr>
              <a:t>     Fire-weather grids and sensor feeds arrive continuously, yet most prediction systems still train and serve in batch, far from real time.</a:t>
            </a:r>
          </a:p>
        </p:txBody>
      </p:sp>
      <p:sp>
        <p:nvSpPr>
          <p:cNvPr id="8" name="Rectangle 7"/>
          <p:cNvSpPr/>
          <p:nvPr/>
        </p:nvSpPr>
        <p:spPr>
          <a:xfrm>
            <a:off x="7452360" y="1600200"/>
            <a:ext cx="4206240" cy="4434840"/>
          </a:xfrm>
          <a:prstGeom prst="rect">
            <a:avLst/>
          </a:prstGeom>
          <a:solidFill>
            <a:srgbClr val="F6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26679" y="178308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EB6834"/>
                </a:solidFill>
                <a:latin typeface="Calibri"/>
              </a:rPr>
              <a:t>WHY THIS PROJECT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26679" y="2194560"/>
            <a:ext cx="3657600" cy="3657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50" b="1" i="0">
                <a:solidFill>
                  <a:srgbClr val="0B0B0B"/>
                </a:solidFill>
                <a:latin typeface="Calibri"/>
              </a:rPr>
              <a:t>Goal</a:t>
            </a:r>
          </a:p>
          <a:p>
            <a:pPr algn="l">
              <a:lnSpc>
                <a:spcPct val="100000"/>
              </a:lnSpc>
              <a:spcAft>
                <a:spcPts val="1200"/>
              </a:spcAft>
            </a:pPr>
            <a:r>
              <a:rPr sz="1250" b="0" i="0">
                <a:solidFill>
                  <a:srgbClr val="52514E"/>
                </a:solidFill>
                <a:latin typeface="Calibri"/>
              </a:rPr>
              <a:t>Detect fire-favourable conditions and raise alerts within seconds of data arrival, using a Kafka-native streaming pipeline.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50" b="1" i="0">
                <a:solidFill>
                  <a:srgbClr val="0B0B0B"/>
                </a:solidFill>
                <a:latin typeface="Calibri"/>
              </a:rPr>
              <a:t>Approach</a:t>
            </a:r>
          </a:p>
          <a:p>
            <a:pPr algn="l">
              <a:lnSpc>
                <a:spcPct val="100000"/>
              </a:lnSpc>
              <a:spcAft>
                <a:spcPts val="1200"/>
              </a:spcAft>
            </a:pPr>
            <a:r>
              <a:rPr sz="1250" b="0" i="0">
                <a:solidFill>
                  <a:srgbClr val="52514E"/>
                </a:solidFill>
                <a:latin typeface="Calibri"/>
              </a:rPr>
              <a:t>Kafka ingestion → Kafka Streams filtering &amp; windowing → in-flight feature engineering → ML/DL detection → alert topic → Elasticsearch → dashboard &amp; emergency channels.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50" b="1" i="0">
                <a:solidFill>
                  <a:srgbClr val="0B0B0B"/>
                </a:solidFill>
                <a:latin typeface="Calibri"/>
              </a:rPr>
              <a:t>Deliverable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52514E"/>
                </a:solidFill>
                <a:latin typeface="Calibri"/>
              </a:rPr>
              <a:t>An evaluated, end-to-end real-time system with measured latency, throughput and detection quality.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0982B58-6EDF-CF4F-114E-499841E2E0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30" y="246571"/>
            <a:ext cx="2889155" cy="111379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6D57F86-C014-6023-C47E-FB453D79CC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84770" y="338201"/>
            <a:ext cx="2540000" cy="50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3400" y="978408"/>
            <a:ext cx="11155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EB6834"/>
                </a:solidFill>
                <a:latin typeface="Calibri"/>
              </a:rPr>
              <a:t>01 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51838"/>
            <a:ext cx="1115568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700" b="1" i="0">
                <a:solidFill>
                  <a:srgbClr val="0B0B0B"/>
                </a:solidFill>
                <a:latin typeface="Calibri"/>
              </a:rPr>
              <a:t>Batch ML vs. Real-Time Streaming: The Core Motivation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55664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000" b="0" i="0">
                <a:solidFill>
                  <a:srgbClr val="898781"/>
                </a:solidFill>
                <a:latin typeface="Calibri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98781"/>
                </a:solidFill>
                <a:latin typeface="Calibri"/>
              </a:rPr>
              <a:t>Real-Time Forest Fire Detection | Kafka &amp; Stream Processing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4440427"/>
              </p:ext>
            </p:extLst>
          </p:nvPr>
        </p:nvGraphicFramePr>
        <p:xfrm>
          <a:off x="502920" y="1801368"/>
          <a:ext cx="11155680" cy="24497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4754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Aspect</a:t>
                      </a:r>
                    </a:p>
                  </a:txBody>
                  <a:tcPr marL="73152" marR="54864" marT="27432" marB="27432" anchor="ctr">
                    <a:solidFill>
                      <a:srgbClr val="2A78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Batch pipeline (typical)</a:t>
                      </a:r>
                    </a:p>
                  </a:txBody>
                  <a:tcPr marL="73152" marR="54864" marT="27432" marB="27432" anchor="ctr">
                    <a:solidFill>
                      <a:srgbClr val="2A78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Real-time streaming pipeline (this project)</a:t>
                      </a:r>
                    </a:p>
                  </a:txBody>
                  <a:tcPr marL="73152" marR="54864" marT="27432" marB="27432" anchor="ctr">
                    <a:solidFill>
                      <a:srgbClr val="2A78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0432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0B0B"/>
                          </a:solidFill>
                          <a:latin typeface="Calibri"/>
                        </a:rPr>
                        <a:t>Data latency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0B0B"/>
                          </a:solidFill>
                          <a:latin typeface="Calibri"/>
                        </a:rPr>
                        <a:t>Hours to days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0B0B"/>
                          </a:solidFill>
                          <a:latin typeface="Calibri"/>
                        </a:rPr>
                        <a:t>Milliseconds to seconds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0432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0B0B"/>
                          </a:solidFill>
                          <a:latin typeface="Calibri"/>
                        </a:rPr>
                        <a:t>Feature freshness</a:t>
                      </a:r>
                    </a:p>
                  </a:txBody>
                  <a:tcPr marL="73152" marR="54864" marT="27432" marB="27432" anchor="ctr">
                    <a:solidFill>
                      <a:srgbClr val="F6F5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0B0B"/>
                          </a:solidFill>
                          <a:latin typeface="Calibri"/>
                        </a:rPr>
                        <a:t>Recomputed nightly</a:t>
                      </a:r>
                    </a:p>
                  </a:txBody>
                  <a:tcPr marL="73152" marR="54864" marT="27432" marB="27432" anchor="ctr">
                    <a:solidFill>
                      <a:srgbClr val="F6F5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0B0B"/>
                          </a:solidFill>
                          <a:latin typeface="Calibri"/>
                        </a:rPr>
                        <a:t>Rolling aggregates updated per event</a:t>
                      </a:r>
                    </a:p>
                  </a:txBody>
                  <a:tcPr marL="73152" marR="54864" marT="27432" marB="27432" anchor="ctr">
                    <a:solidFill>
                      <a:srgbClr val="F6F5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0432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0B0B"/>
                          </a:solidFill>
                          <a:latin typeface="Calibri"/>
                        </a:rPr>
                        <a:t>Alert path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0B0B"/>
                          </a:solidFill>
                          <a:latin typeface="Calibri"/>
                        </a:rPr>
                        <a:t>Post-hoc reports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0B0B"/>
                          </a:solidFill>
                          <a:latin typeface="Calibri"/>
                        </a:rPr>
                        <a:t>Kafka alert topic → SMS / e-mail / push instantly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0432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0B0B"/>
                          </a:solidFill>
                          <a:latin typeface="Calibri"/>
                        </a:rPr>
                        <a:t>Failure mode</a:t>
                      </a:r>
                    </a:p>
                  </a:txBody>
                  <a:tcPr marL="73152" marR="54864" marT="27432" marB="27432" anchor="ctr">
                    <a:solidFill>
                      <a:srgbClr val="F6F5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0B0B"/>
                          </a:solidFill>
                          <a:latin typeface="Calibri"/>
                        </a:rPr>
                        <a:t>Silent staleness</a:t>
                      </a:r>
                    </a:p>
                  </a:txBody>
                  <a:tcPr marL="73152" marR="54864" marT="27432" marB="27432" anchor="ctr">
                    <a:solidFill>
                      <a:srgbClr val="F6F5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0B0B"/>
                          </a:solidFill>
                          <a:latin typeface="Calibri"/>
                        </a:rPr>
                        <a:t>Backpressure, DLQ, replay, exactly-once</a:t>
                      </a:r>
                    </a:p>
                  </a:txBody>
                  <a:tcPr marL="73152" marR="54864" marT="27432" marB="27432" anchor="ctr">
                    <a:solidFill>
                      <a:srgbClr val="F6F5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0432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0B0B"/>
                          </a:solidFill>
                          <a:latin typeface="Calibri"/>
                        </a:rPr>
                        <a:t>Retraining trigger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0B0B"/>
                          </a:solidFill>
                          <a:latin typeface="Calibri"/>
                        </a:rPr>
                        <a:t>Manual schedules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0B0B"/>
                          </a:solidFill>
                          <a:latin typeface="Calibri"/>
                        </a:rPr>
                        <a:t>Live drift detection on the stream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4800600"/>
            <a:ext cx="1115568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50" b="1" i="0">
                <a:solidFill>
                  <a:srgbClr val="0B0B0B"/>
                </a:solidFill>
                <a:latin typeface="Calibri"/>
              </a:rPr>
              <a:t>Streaming is not just faster batch - it changes the architecture: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0" i="0">
                <a:solidFill>
                  <a:srgbClr val="52514E"/>
                </a:solidFill>
                <a:latin typeface="Calibri"/>
              </a:rPr>
              <a:t>Topics decouple producers from consumers; windows formalize time; the model becomes a stateful stream operator; alerts become first-class stream data. Kafka provides all four primitives natively.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42B796D-C582-6224-6AB4-B6E4E3AF32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36728"/>
            <a:ext cx="2889155" cy="111379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0B3DDD7-6028-009E-718F-1BC1F97988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48020" y="236728"/>
            <a:ext cx="2540000" cy="50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EB6834"/>
                </a:solidFill>
                <a:latin typeface="Calibri"/>
              </a:rPr>
              <a:t>02 DATASET &amp; EDA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43677"/>
            <a:ext cx="1115568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700" b="1" i="0">
                <a:solidFill>
                  <a:srgbClr val="0B0B0B"/>
                </a:solidFill>
                <a:latin typeface="Calibri"/>
              </a:rPr>
              <a:t>Dataset: gridMET-Based Daily Fire-Weather Records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55664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000" b="0" i="0">
                <a:solidFill>
                  <a:srgbClr val="898781"/>
                </a:solidFill>
                <a:latin typeface="Calibri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98781"/>
                </a:solidFill>
                <a:latin typeface="Calibri"/>
              </a:rPr>
              <a:t>Real-Time Forest Fire Detection | Kafka &amp; Stream Processing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600200"/>
          <a:ext cx="7589520" cy="20604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Group</a:t>
                      </a:r>
                    </a:p>
                  </a:txBody>
                  <a:tcPr marL="73152" marR="54864" marT="27432" marB="27432" anchor="ctr">
                    <a:solidFill>
                      <a:srgbClr val="2A78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Features</a:t>
                      </a:r>
                    </a:p>
                  </a:txBody>
                  <a:tcPr marL="73152" marR="54864" marT="27432" marB="27432" anchor="ctr">
                    <a:solidFill>
                      <a:srgbClr val="2A78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Meaning</a:t>
                      </a:r>
                    </a:p>
                  </a:txBody>
                  <a:tcPr marL="73152" marR="54864" marT="27432" marB="27432" anchor="ctr">
                    <a:solidFill>
                      <a:srgbClr val="2A78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Geospatial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latitude, longitude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CONUS grid cell (~4 km) location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Meteorology</a:t>
                      </a:r>
                    </a:p>
                  </a:txBody>
                  <a:tcPr marL="73152" marR="54864" marT="27432" marB="27432" anchor="ctr">
                    <a:solidFill>
                      <a:srgbClr val="F6F5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pr, rmax, rmin, sph, srad, tmmn, tmmx, vs</a:t>
                      </a:r>
                    </a:p>
                  </a:txBody>
                  <a:tcPr marL="73152" marR="54864" marT="27432" marB="27432" anchor="ctr">
                    <a:solidFill>
                      <a:srgbClr val="F6F5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Precipitation, humidity bounds, specific humidity, radiation, min/max temperature, wind speed</a:t>
                      </a:r>
                    </a:p>
                  </a:txBody>
                  <a:tcPr marL="73152" marR="54864" marT="27432" marB="27432" anchor="ctr">
                    <a:solidFill>
                      <a:srgbClr val="F6F5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Fuel moisture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fm100, fm1000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100-hr / 1000-hr dead-fuel moisture content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Fire-danger indices</a:t>
                      </a:r>
                    </a:p>
                  </a:txBody>
                  <a:tcPr marL="73152" marR="54864" marT="27432" marB="27432" anchor="ctr">
                    <a:solidFill>
                      <a:srgbClr val="F6F5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bi, erc, vpd, etr, pet</a:t>
                      </a:r>
                    </a:p>
                  </a:txBody>
                  <a:tcPr marL="73152" marR="54864" marT="27432" marB="27432" anchor="ctr">
                    <a:solidFill>
                      <a:srgbClr val="F6F5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Burning index, energy release component, vapour pressure deficit, evapotranspiration</a:t>
                      </a:r>
                    </a:p>
                  </a:txBody>
                  <a:tcPr marL="73152" marR="54864" marT="27432" marB="27432" anchor="ctr">
                    <a:solidFill>
                      <a:srgbClr val="F6F5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Label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Wildfire (Yes/No)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Fire occurrence for the cell-day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8366760" y="1600200"/>
            <a:ext cx="3291840" cy="932688"/>
          </a:xfrm>
          <a:prstGeom prst="rect">
            <a:avLst/>
          </a:prstGeom>
          <a:solidFill>
            <a:srgbClr val="F6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549640" y="1691640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900" b="1" i="0">
                <a:solidFill>
                  <a:srgbClr val="EB6834"/>
                </a:solidFill>
                <a:latin typeface="Calibri"/>
              </a:rPr>
              <a:t>250K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49640" y="2075688"/>
            <a:ext cx="3017520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 i="0">
                <a:solidFill>
                  <a:srgbClr val="52514E"/>
                </a:solidFill>
                <a:latin typeface="Calibri"/>
              </a:rPr>
              <a:t>cell-day records (training sample of the full grid)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366760" y="2660904"/>
            <a:ext cx="3291840" cy="932688"/>
          </a:xfrm>
          <a:prstGeom prst="rect">
            <a:avLst/>
          </a:prstGeom>
          <a:solidFill>
            <a:srgbClr val="F6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549640" y="2752344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900" b="1" i="0">
                <a:solidFill>
                  <a:srgbClr val="EB6834"/>
                </a:solidFill>
                <a:latin typeface="Calibri"/>
              </a:rPr>
              <a:t>17 + 1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49640" y="3136392"/>
            <a:ext cx="3017520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 i="0">
                <a:solidFill>
                  <a:srgbClr val="52514E"/>
                </a:solidFill>
                <a:latin typeface="Calibri"/>
              </a:rPr>
              <a:t>numeric features + binary label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366760" y="3721608"/>
            <a:ext cx="3291840" cy="932688"/>
          </a:xfrm>
          <a:prstGeom prst="rect">
            <a:avLst/>
          </a:prstGeom>
          <a:solidFill>
            <a:srgbClr val="F6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549640" y="3813048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900" b="1" i="0">
                <a:solidFill>
                  <a:srgbClr val="EB6834"/>
                </a:solidFill>
                <a:latin typeface="Calibri"/>
              </a:rPr>
              <a:t>2014–2023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49640" y="4197096"/>
            <a:ext cx="3017520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 i="0">
                <a:solidFill>
                  <a:srgbClr val="52514E"/>
                </a:solidFill>
                <a:latin typeface="Calibri"/>
              </a:rPr>
              <a:t>ten years of daily observations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366760" y="4782312"/>
            <a:ext cx="3291840" cy="932688"/>
          </a:xfrm>
          <a:prstGeom prst="rect">
            <a:avLst/>
          </a:prstGeom>
          <a:solidFill>
            <a:srgbClr val="F6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549640" y="4873752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900" b="1" i="0">
                <a:solidFill>
                  <a:srgbClr val="EB6834"/>
                </a:solidFill>
                <a:latin typeface="Calibri"/>
              </a:rPr>
              <a:t>≈5.6%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49640" y="5257800"/>
            <a:ext cx="3017520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 i="0">
                <a:solidFill>
                  <a:srgbClr val="52514E"/>
                </a:solidFill>
                <a:latin typeface="Calibri"/>
              </a:rPr>
              <a:t>positive fire rate - heavily imbalanced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5120640"/>
            <a:ext cx="1115568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52514E"/>
                </a:solidFill>
                <a:latin typeface="Calibri"/>
              </a:rPr>
              <a:t>Source: gridMET gridded surface meteorology (Abatzoglou, 2013) joined with fire-occurrence labels; cleaning follows the project pipeline - 32767 sentinel values mapped to NaN, median imputation, SMOTEN balancing on the training split only.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0" i="1">
                <a:solidFill>
                  <a:srgbClr val="898781"/>
                </a:solidFill>
                <a:latin typeface="Calibri"/>
              </a:rPr>
              <a:t>Note: EDA charts on the following slides were produced from a schema-compatible calibrated sample; rerun eda/eda.py against the full CSV to regenerate them with production numbers.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E2E291EB-2027-9B5C-9496-586075A076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6800"/>
            <a:ext cx="1767840" cy="681515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6A13BD2D-C08F-D645-8698-A42B3A7F69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742" y="207040"/>
            <a:ext cx="1554196" cy="31083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1BAF7A"/>
                </a:solidFill>
                <a:latin typeface="Calibri"/>
              </a:rPr>
              <a:t>02 DATASET &amp; EDA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76895"/>
            <a:ext cx="1115568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700" b="1" i="0">
                <a:solidFill>
                  <a:srgbClr val="0B0B0B"/>
                </a:solidFill>
                <a:latin typeface="Calibri"/>
              </a:rPr>
              <a:t>EDA 1/6 - Target Imbalance &amp; Data Quality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55664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000" b="0" i="0">
                <a:solidFill>
                  <a:srgbClr val="898781"/>
                </a:solidFill>
                <a:latin typeface="Calibri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98781"/>
                </a:solidFill>
                <a:latin typeface="Calibri"/>
              </a:rPr>
              <a:t>Real-Time Forest Fire Detection | Kafka &amp; Stream Processing</a:t>
            </a:r>
          </a:p>
        </p:txBody>
      </p:sp>
      <p:pic>
        <p:nvPicPr>
          <p:cNvPr id="7" name="Picture 6" descr="01_class_bal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955346"/>
            <a:ext cx="5532120" cy="2298082"/>
          </a:xfrm>
          <a:prstGeom prst="rect">
            <a:avLst/>
          </a:prstGeom>
        </p:spPr>
      </p:pic>
      <p:pic>
        <p:nvPicPr>
          <p:cNvPr id="8" name="Picture 7" descr="02_missing_valu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772392"/>
            <a:ext cx="5532120" cy="2663991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02920" y="4892040"/>
            <a:ext cx="11155680" cy="1371600"/>
          </a:xfrm>
          <a:prstGeom prst="rect">
            <a:avLst/>
          </a:prstGeom>
          <a:solidFill>
            <a:srgbClr val="F6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5001768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1BAF7A"/>
                </a:solidFill>
                <a:latin typeface="Calibri"/>
              </a:rPr>
              <a:t>FINDINGS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303520"/>
            <a:ext cx="1069848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0B0B0B"/>
                </a:solidFill>
                <a:latin typeface="Calibri"/>
              </a:rPr>
              <a:t>Only ~5.6% of cell-days are fire events → accuracy alone is meaningless; the pipeline uses SMOTEN balancing and is evaluated recall-first.  •  Sentinel value 32767 plus sporadic NaNs affect up to ~1.2% of feature cells → median imputation and RobustScaler are mandatory before modelling.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B818E7B-A6A5-3A7B-EC7A-FE511869D1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26800"/>
            <a:ext cx="1767840" cy="68151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EFB3936-7CE1-DAA7-EA2F-6DFA0378C4E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15742" y="207040"/>
            <a:ext cx="1554196" cy="310839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E68FF26-8AB5-CEEA-3AC0-60D4CBE7E05B}"/>
              </a:ext>
            </a:extLst>
          </p:cNvPr>
          <p:cNvSpPr txBox="1"/>
          <p:nvPr/>
        </p:nvSpPr>
        <p:spPr>
          <a:xfrm>
            <a:off x="4618616" y="182945"/>
            <a:ext cx="11155680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lang="en-US" sz="3600" b="1">
                <a:solidFill>
                  <a:srgbClr val="EB6834"/>
                </a:solidFill>
                <a:latin typeface="Calibri"/>
              </a:rPr>
              <a:t>02 EDA</a:t>
            </a:r>
            <a:endParaRPr sz="3600" b="1" i="0">
              <a:solidFill>
                <a:srgbClr val="EB6834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1BAF7A"/>
                </a:solidFill>
                <a:latin typeface="Calibri"/>
              </a:rPr>
              <a:t>02 DATASET &amp; EDA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29359"/>
            <a:ext cx="1115568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700" b="1" i="0">
                <a:solidFill>
                  <a:srgbClr val="0B0B0B"/>
                </a:solidFill>
                <a:latin typeface="Calibri"/>
              </a:rPr>
              <a:t>EDA 2/6 - Feature Distributions &amp; Class Separation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55664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000" b="0" i="0">
                <a:solidFill>
                  <a:srgbClr val="898781"/>
                </a:solidFill>
                <a:latin typeface="Calibri"/>
              </a:rP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98781"/>
                </a:solidFill>
                <a:latin typeface="Calibri"/>
              </a:rPr>
              <a:t>Real-Time Forest Fire Detection | Kafka &amp; Stream Processing</a:t>
            </a:r>
          </a:p>
        </p:txBody>
      </p:sp>
      <p:pic>
        <p:nvPicPr>
          <p:cNvPr id="7" name="Picture 6" descr="03_feature_distribu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926888"/>
            <a:ext cx="5532120" cy="2354998"/>
          </a:xfrm>
          <a:prstGeom prst="rect">
            <a:avLst/>
          </a:prstGeom>
        </p:spPr>
      </p:pic>
      <p:pic>
        <p:nvPicPr>
          <p:cNvPr id="8" name="Picture 7" descr="04_boxplots_by_cla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853700"/>
            <a:ext cx="5532120" cy="2501374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02920" y="4892040"/>
            <a:ext cx="11155680" cy="1371600"/>
          </a:xfrm>
          <a:prstGeom prst="rect">
            <a:avLst/>
          </a:prstGeom>
          <a:solidFill>
            <a:srgbClr val="F6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5001768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1BAF7A"/>
                </a:solidFill>
                <a:latin typeface="Calibri"/>
              </a:rPr>
              <a:t>FINDINGS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303520"/>
            <a:ext cx="1069848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0B0B0B"/>
                </a:solidFill>
                <a:latin typeface="Calibri"/>
              </a:rPr>
              <a:t>Temperature, VPD and ERC are right-skewed with heavy upper tails on fire days; fuel moisture shifts left. Fire days show systematically higher tmmx/vpd/ERC/wind and lower rmin/fm100 - a physically interpretable, learnable signal.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6AF12DE-39CF-A022-ADEB-211B286FE3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26800"/>
            <a:ext cx="1767840" cy="68151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20F863C-ACD0-8378-2A20-32FB69CC8A8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15742" y="207040"/>
            <a:ext cx="1554196" cy="31083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1BAF7A"/>
                </a:solidFill>
                <a:latin typeface="Calibri"/>
              </a:rPr>
              <a:t>02 DATASET &amp; EDA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95528"/>
            <a:ext cx="1115568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700" b="1" i="0">
                <a:solidFill>
                  <a:srgbClr val="0B0B0B"/>
                </a:solidFill>
                <a:latin typeface="Calibri"/>
              </a:rPr>
              <a:t>EDA 3/6 - Correlation Structure &amp; Seasonality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55664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000" b="0" i="0">
                <a:solidFill>
                  <a:srgbClr val="898781"/>
                </a:solidFill>
                <a:latin typeface="Calibri"/>
              </a:rP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98781"/>
                </a:solidFill>
                <a:latin typeface="Calibri"/>
              </a:rPr>
              <a:t>Real-Time Forest Fire Detection | Kafka &amp; Stream Processing</a:t>
            </a:r>
          </a:p>
        </p:txBody>
      </p:sp>
      <p:pic>
        <p:nvPicPr>
          <p:cNvPr id="7" name="Picture 6" descr="05_correlation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2751" y="1481328"/>
            <a:ext cx="3452456" cy="3246120"/>
          </a:xfrm>
          <a:prstGeom prst="rect">
            <a:avLst/>
          </a:prstGeom>
        </p:spPr>
      </p:pic>
      <p:pic>
        <p:nvPicPr>
          <p:cNvPr id="8" name="Picture 7" descr="06_monthly_seasonal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2136429"/>
            <a:ext cx="5532120" cy="193591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02920" y="4892040"/>
            <a:ext cx="11155680" cy="1371600"/>
          </a:xfrm>
          <a:prstGeom prst="rect">
            <a:avLst/>
          </a:prstGeom>
          <a:solidFill>
            <a:srgbClr val="F6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5001768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1BAF7A"/>
                </a:solidFill>
                <a:latin typeface="Calibri"/>
              </a:rPr>
              <a:t>FINDINGS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303520"/>
            <a:ext cx="1069848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0B0B0B"/>
                </a:solidFill>
                <a:latin typeface="Calibri"/>
              </a:rPr>
              <a:t>pet-etr (r=+0.99), fm100-fm1000 (r=+0.96) and tmmx-vpd-erc (r≈0.8-0.9) are near-redundant → regularized models and index-based feature selection.  •  Fire occurrence peaks in July at ~21.6% (vs ≈0% in winter) → seasonal features and month-aware validation splits.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4D3A902-7317-2BEF-6BF3-787E5EE4E9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26800"/>
            <a:ext cx="1767840" cy="68151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679693F-BF42-A170-2982-0FD4DE4AC94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15742" y="207040"/>
            <a:ext cx="1554196" cy="31083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2A78D6"/>
                </a:solidFill>
                <a:latin typeface="Calibri"/>
              </a:rPr>
              <a:t>02 DATASET &amp; EDA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51005"/>
            <a:ext cx="1115568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700" b="1" i="0">
                <a:solidFill>
                  <a:srgbClr val="0B0B0B"/>
                </a:solidFill>
                <a:latin typeface="Calibri"/>
              </a:rPr>
              <a:t>EDA 4/6 - Spatial Density &amp; Discriminative 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55664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000" b="0" i="0">
                <a:solidFill>
                  <a:srgbClr val="898781"/>
                </a:solidFill>
                <a:latin typeface="Calibri"/>
              </a:rPr>
              <a:t>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98781"/>
                </a:solidFill>
                <a:latin typeface="Calibri"/>
              </a:rPr>
              <a:t>Real-Time Forest Fire Detection | Kafka &amp; Stream Processing</a:t>
            </a:r>
          </a:p>
        </p:txBody>
      </p:sp>
      <p:pic>
        <p:nvPicPr>
          <p:cNvPr id="7" name="Picture 6" descr="08_spatial_fire_dens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012293"/>
            <a:ext cx="5532120" cy="2184188"/>
          </a:xfrm>
          <a:prstGeom prst="rect">
            <a:avLst/>
          </a:prstGeom>
        </p:spPr>
      </p:pic>
      <p:pic>
        <p:nvPicPr>
          <p:cNvPr id="8" name="Picture 7" descr="10_feature_class_shif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626944"/>
            <a:ext cx="5532120" cy="295488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02920" y="4892040"/>
            <a:ext cx="11155680" cy="1371600"/>
          </a:xfrm>
          <a:prstGeom prst="rect">
            <a:avLst/>
          </a:prstGeom>
          <a:solidFill>
            <a:srgbClr val="F6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5001768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2A78D6"/>
                </a:solidFill>
                <a:latin typeface="Calibri"/>
              </a:rPr>
              <a:t>FINDINGS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303520"/>
            <a:ext cx="1069848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0B0B0B"/>
                </a:solidFill>
                <a:latin typeface="Calibri"/>
              </a:rPr>
              <a:t>Fire density concentrates in the mountain West / Mediterranean climate zones (Sierra Nevada, Cascades, Rockies, AZ-NM) → location is informative but must not leak.  •  Standardized class-mean shift ranks VPD (+1.54 SD), ERC (+1.50), BI (+1.35) and fm100 (-1.39) as the strongest single separators.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8AA7E33-9715-95A5-D973-6C38811FEF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26800"/>
            <a:ext cx="1767840" cy="68151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22AF543-FBDE-7FDE-A863-A8D970A37B5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15742" y="207040"/>
            <a:ext cx="1554196" cy="31083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1BAF7A"/>
                </a:solidFill>
                <a:latin typeface="Calibri"/>
              </a:rPr>
              <a:t>02 DATASET &amp; EDA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76895"/>
            <a:ext cx="1115568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700" b="1" i="0">
                <a:solidFill>
                  <a:srgbClr val="0B0B0B"/>
                </a:solidFill>
                <a:latin typeface="Calibri"/>
              </a:rPr>
              <a:t>EDA 5/6 - Fire-Weather Signal &amp; Precipitation Behaviour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55664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000" b="0" i="0">
                <a:solidFill>
                  <a:srgbClr val="898781"/>
                </a:solidFill>
                <a:latin typeface="Calibri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98781"/>
                </a:solidFill>
                <a:latin typeface="Calibri"/>
              </a:rPr>
              <a:t>Real-Time Forest Fire Detection | Kafka &amp; Stream Processing</a:t>
            </a:r>
          </a:p>
        </p:txBody>
      </p:sp>
      <p:pic>
        <p:nvPicPr>
          <p:cNvPr id="7" name="Picture 6" descr="09_kde_fire_weath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05527"/>
            <a:ext cx="5532120" cy="1797721"/>
          </a:xfrm>
          <a:prstGeom prst="rect">
            <a:avLst/>
          </a:prstGeom>
        </p:spPr>
      </p:pic>
      <p:pic>
        <p:nvPicPr>
          <p:cNvPr id="8" name="Picture 7" descr="13_pr_zero_infl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2175844"/>
            <a:ext cx="5532120" cy="1857087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02920" y="4892040"/>
            <a:ext cx="11155680" cy="1371600"/>
          </a:xfrm>
          <a:prstGeom prst="rect">
            <a:avLst/>
          </a:prstGeom>
          <a:solidFill>
            <a:srgbClr val="F6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5001768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1BAF7A"/>
                </a:solidFill>
                <a:latin typeface="Calibri"/>
              </a:rPr>
              <a:t>FINDINGS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303520"/>
            <a:ext cx="1069848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0B0B0B"/>
                </a:solidFill>
                <a:latin typeface="Calibri"/>
              </a:rPr>
              <a:t>Class-conditional densities of VPD and ERC separate cleanly while fm100 mirrors the shift → the deployed threshold on model probability can be tuned against ERC-style operating points.  •  Precipitation is zero-inflated (82% zeros; 92% of fire days are dry) → a dry-day flag is a cheap, powerful binary feature.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3E95B1A-65D8-3305-67C3-E93166B361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26800"/>
            <a:ext cx="1767840" cy="68151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4E93999-F286-E04D-E066-0ED8EFEAF8C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15742" y="207040"/>
            <a:ext cx="1554196" cy="31083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2A78D6"/>
                </a:solidFill>
                <a:latin typeface="Calibri"/>
              </a:rPr>
              <a:t>02 DATASET &amp; EDA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97541" y="1018384"/>
            <a:ext cx="1115568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700" b="1" i="0">
                <a:solidFill>
                  <a:srgbClr val="0B0B0B"/>
                </a:solidFill>
                <a:latin typeface="Calibri"/>
              </a:rPr>
              <a:t>EDA 6/6 - Outliers &amp; Stream-Level Temporal 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55664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000" b="0" i="0">
                <a:solidFill>
                  <a:srgbClr val="898781"/>
                </a:solidFill>
                <a:latin typeface="Calibri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98781"/>
                </a:solidFill>
                <a:latin typeface="Calibri"/>
              </a:rPr>
              <a:t>Real-Time Forest Fire Detection | Kafka &amp; Stream Processing</a:t>
            </a:r>
          </a:p>
        </p:txBody>
      </p:sp>
      <p:pic>
        <p:nvPicPr>
          <p:cNvPr id="7" name="Picture 6" descr="11_outliers_iq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814329"/>
            <a:ext cx="5532120" cy="2580117"/>
          </a:xfrm>
          <a:prstGeom prst="rect">
            <a:avLst/>
          </a:prstGeom>
        </p:spPr>
      </p:pic>
      <p:pic>
        <p:nvPicPr>
          <p:cNvPr id="8" name="Picture 7" descr="12_daily_fire_burs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2222826"/>
            <a:ext cx="5532120" cy="1763123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02920" y="4892040"/>
            <a:ext cx="11155680" cy="1371600"/>
          </a:xfrm>
          <a:prstGeom prst="rect">
            <a:avLst/>
          </a:prstGeom>
          <a:solidFill>
            <a:srgbClr val="F6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5001768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2A78D6"/>
                </a:solidFill>
                <a:latin typeface="Calibri"/>
              </a:rPr>
              <a:t>FINDINGS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303520"/>
            <a:ext cx="1069848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0B0B0B"/>
                </a:solidFill>
                <a:latin typeface="Calibri"/>
              </a:rPr>
              <a:t>Up to ~18% of precipitation records fall beyond IQR fences → RobustScaler in the production pipeline.  •  Fire arrivals come in multi-day bursts (7-day rolling mean) → exactly the temporal structure that Kafka Streams windowed aggregation (1-min tumbling, 24-h sliding) is designed to capture.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0CB38BE-00FA-F4AA-B81C-B4384597E8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26800"/>
            <a:ext cx="1767840" cy="68151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7154D7D-DF44-22F3-C3CD-EE24A310F70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15742" y="207040"/>
            <a:ext cx="1554196" cy="31083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EB6834"/>
                </a:solidFill>
                <a:latin typeface="Calibri"/>
              </a:rPr>
              <a:t>02 DATASET &amp; EDA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7379" y="754934"/>
            <a:ext cx="11155680" cy="4154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700" b="1" i="0">
                <a:solidFill>
                  <a:srgbClr val="0B0B0B"/>
                </a:solidFill>
                <a:latin typeface="Calibri"/>
              </a:rPr>
              <a:t>EDA Conclusion</a:t>
            </a:r>
            <a:r>
              <a:rPr lang="en-US" sz="2700" b="1">
                <a:solidFill>
                  <a:srgbClr val="0B0B0B"/>
                </a:solidFill>
                <a:latin typeface="Calibri"/>
              </a:rPr>
              <a:t>s</a:t>
            </a:r>
            <a:endParaRPr sz="2700" b="1" i="0">
              <a:solidFill>
                <a:srgbClr val="0B0B0B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292840" y="6455664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000" b="0" i="0">
                <a:solidFill>
                  <a:srgbClr val="898781"/>
                </a:solidFill>
                <a:latin typeface="Calibri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98781"/>
                </a:solidFill>
                <a:latin typeface="Calibri"/>
              </a:rPr>
              <a:t>Real-Time Forest Fire Detection | Kafka &amp; Stream Processing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645920"/>
            <a:ext cx="82296" cy="658368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645920"/>
            <a:ext cx="106984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50" b="1" i="0">
                <a:solidFill>
                  <a:srgbClr val="0B0B0B"/>
                </a:solidFill>
                <a:latin typeface="Calibri"/>
              </a:rPr>
              <a:t>Imbalance is structural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947672"/>
            <a:ext cx="1069848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52514E"/>
                </a:solidFill>
                <a:latin typeface="Calibri"/>
              </a:rPr>
              <a:t>5.6% positive rate → SMOTEN on train split only; recall-first metrics; precision-recall curves over ROC.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423160"/>
            <a:ext cx="82296" cy="658368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7240" y="2423160"/>
            <a:ext cx="106984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50" b="1" i="0">
                <a:solidFill>
                  <a:srgbClr val="0B0B0B"/>
                </a:solidFill>
                <a:latin typeface="Calibri"/>
              </a:rPr>
              <a:t>Fire-weather indices dominate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724912"/>
            <a:ext cx="1069848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52514E"/>
                </a:solidFill>
                <a:latin typeface="Calibri"/>
              </a:rPr>
              <a:t>VPD, ERC, BI and fuel moisture carry most of the signal → they become the engineered streaming features.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3200400"/>
            <a:ext cx="82296" cy="658368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77240" y="3200400"/>
            <a:ext cx="106984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50" b="1" i="0">
                <a:solidFill>
                  <a:srgbClr val="0B0B0B"/>
                </a:solidFill>
                <a:latin typeface="Calibri"/>
              </a:rPr>
              <a:t>Near-redundant features exist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502152"/>
            <a:ext cx="1069848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52514E"/>
                </a:solidFill>
                <a:latin typeface="Calibri"/>
              </a:rPr>
              <a:t>pet↔etr r=+0.99 → drop or combine in-flight to keep stream payloads lean.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3977640"/>
            <a:ext cx="82296" cy="658368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77240" y="3977640"/>
            <a:ext cx="106984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50" b="1" i="0">
                <a:solidFill>
                  <a:srgbClr val="0B0B0B"/>
                </a:solidFill>
                <a:latin typeface="Calibri"/>
              </a:rPr>
              <a:t>Strong seasonality &amp; geography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279392"/>
            <a:ext cx="1069848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52514E"/>
                </a:solidFill>
                <a:latin typeface="Calibri"/>
              </a:rPr>
              <a:t>July peak ~21.6%; western-US clustering → calendar and spatial features, grouped keys for Kafka partitioning.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4754880"/>
            <a:ext cx="82296" cy="658368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77240" y="4754880"/>
            <a:ext cx="106984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50" b="1" i="0">
                <a:solidFill>
                  <a:srgbClr val="0B0B0B"/>
                </a:solidFill>
                <a:latin typeface="Calibri"/>
              </a:rPr>
              <a:t>Bursty arrivals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056632"/>
            <a:ext cx="1069848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52514E"/>
                </a:solidFill>
                <a:latin typeface="Calibri"/>
              </a:rPr>
              <a:t>Multi-day fire bursts → windowed aggregation and alert deduplication are required, not optional.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5532120"/>
            <a:ext cx="82296" cy="658368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77240" y="5532120"/>
            <a:ext cx="106984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50" b="1" i="0">
                <a:solidFill>
                  <a:srgbClr val="0B0B0B"/>
                </a:solidFill>
                <a:latin typeface="Calibri"/>
              </a:rPr>
              <a:t>Data quality is manageable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5833872"/>
            <a:ext cx="1069848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52514E"/>
                </a:solidFill>
                <a:latin typeface="Calibri"/>
              </a:rPr>
              <a:t>32767 sentinels + &lt;1.2% missing → validation + median imputation as the first Kafka Streams operator.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29B5D8C5-5026-602B-0B07-FF1EB917AB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6800"/>
            <a:ext cx="1767840" cy="681515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DF8707AE-7EDE-6533-9142-0A35AAEED3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742" y="207040"/>
            <a:ext cx="1554196" cy="310839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762948" y="131802"/>
            <a:ext cx="4929692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600" b="1" i="0">
                <a:solidFill>
                  <a:srgbClr val="EB6834"/>
                </a:solidFill>
                <a:latin typeface="Calibri"/>
              </a:rPr>
              <a:t>03 LITERATURE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81812"/>
            <a:ext cx="1115568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700" b="1" i="0">
                <a:solidFill>
                  <a:srgbClr val="0B0B0B"/>
                </a:solidFill>
                <a:latin typeface="Calibri"/>
              </a:rPr>
              <a:t>Review Map: 34 Papers, 7 Themes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55664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000" b="0" i="0">
                <a:solidFill>
                  <a:srgbClr val="898781"/>
                </a:solidFill>
                <a:latin typeface="Calibri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98781"/>
                </a:solidFill>
                <a:latin typeface="Calibri"/>
              </a:rPr>
              <a:t>Real-Time Forest Fire Detection | Kafka &amp; Stream Processing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572768"/>
            <a:ext cx="566928" cy="54864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1691640"/>
            <a:ext cx="56692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1591056"/>
            <a:ext cx="78638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0B0B0B"/>
                </a:solidFill>
                <a:latin typeface="Calibri"/>
              </a:rPr>
              <a:t>ML for fire occurrence &amp; susceptibility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1892808"/>
            <a:ext cx="7863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52514E"/>
                </a:solidFill>
                <a:latin typeface="Calibri"/>
              </a:rPr>
              <a:t>Cortez'07 · Jain'20 · Sayad'19 · Shmuel'22 · Bot'22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92640" y="1691640"/>
            <a:ext cx="19202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2A78D6"/>
                </a:solidFill>
                <a:latin typeface="Calibri"/>
              </a:rPr>
              <a:t>5 papers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2231136"/>
            <a:ext cx="566928" cy="548640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2920" y="2350008"/>
            <a:ext cx="56692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2249424"/>
            <a:ext cx="78638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0B0B0B"/>
                </a:solidFill>
                <a:latin typeface="Calibri"/>
              </a:rPr>
              <a:t>Deep learning &amp; spatiotemporal spread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2551176"/>
            <a:ext cx="7863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52514E"/>
                </a:solidFill>
                <a:latin typeface="Calibri"/>
              </a:rPr>
              <a:t>Shi'15 · Radke'19 · Huot'22 · Marjani'24 · +5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92640" y="2350008"/>
            <a:ext cx="19202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1BAF7A"/>
                </a:solidFill>
                <a:latin typeface="Calibri"/>
              </a:rPr>
              <a:t>9 papers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2889504"/>
            <a:ext cx="566928" cy="54864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02920" y="3008376"/>
            <a:ext cx="56692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2907792"/>
            <a:ext cx="78638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0B0B0B"/>
                </a:solidFill>
                <a:latin typeface="Calibri"/>
              </a:rPr>
              <a:t>Real-time vision &amp; edge detection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3209544"/>
            <a:ext cx="7863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52514E"/>
                </a:solidFill>
                <a:latin typeface="Calibri"/>
              </a:rPr>
              <a:t>Alkhatib'14 · Barmpoutis'20 · YOLOv11'25 · DPMNet'25 · EdgeUAV'25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92640" y="3008376"/>
            <a:ext cx="19202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EB6834"/>
                </a:solidFill>
                <a:latin typeface="Calibri"/>
              </a:rPr>
              <a:t>5 papers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3547872"/>
            <a:ext cx="566928" cy="54864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02920" y="3666744"/>
            <a:ext cx="56692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3566160"/>
            <a:ext cx="78638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0B0B0B"/>
                </a:solidFill>
                <a:latin typeface="Calibri"/>
              </a:rPr>
              <a:t>IoT &amp; wireless sensor networks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80160" y="3867912"/>
            <a:ext cx="7863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52514E"/>
                </a:solidFill>
                <a:latin typeface="Calibri"/>
              </a:rPr>
              <a:t>Chauhan'13 · Mohapatra'16 · Davis'23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92640" y="3666744"/>
            <a:ext cx="19202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EB6834"/>
                </a:solidFill>
                <a:latin typeface="Calibri"/>
              </a:rPr>
              <a:t>3 papers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4206240"/>
            <a:ext cx="566928" cy="548640"/>
          </a:xfrm>
          <a:prstGeom prst="rect">
            <a:avLst/>
          </a:prstGeom>
          <a:solidFill>
            <a:srgbClr val="E349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02920" y="4325112"/>
            <a:ext cx="56692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80160" y="4224528"/>
            <a:ext cx="78638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0B0B0B"/>
                </a:solidFill>
                <a:latin typeface="Calibri"/>
              </a:rPr>
              <a:t>Kafka &amp; stream processing frameworks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80160" y="4526280"/>
            <a:ext cx="7863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52514E"/>
                </a:solidFill>
                <a:latin typeface="Calibri"/>
              </a:rPr>
              <a:t>Kreps'11 · Zaharia'12 · Isah'19 · Nasiri'19 · vanDongen'21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92640" y="4325112"/>
            <a:ext cx="19202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E34948"/>
                </a:solidFill>
                <a:latin typeface="Calibri"/>
              </a:rPr>
              <a:t>5 papers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4864608"/>
            <a:ext cx="566928" cy="548640"/>
          </a:xfrm>
          <a:prstGeom prst="rect">
            <a:avLst/>
          </a:prstGeom>
          <a:solidFill>
            <a:srgbClr val="4A3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02920" y="4983480"/>
            <a:ext cx="56692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F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80160" y="4882896"/>
            <a:ext cx="78638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0B0B0B"/>
                </a:solidFill>
                <a:latin typeface="Calibri"/>
              </a:rPr>
              <a:t>Concept drift in data streams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5184648"/>
            <a:ext cx="7863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52514E"/>
                </a:solidFill>
                <a:latin typeface="Calibri"/>
              </a:rPr>
              <a:t>Wares'19 · Krawczyk'18 · Korycki'22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92640" y="4983480"/>
            <a:ext cx="19202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4A3AA7"/>
                </a:solidFill>
                <a:latin typeface="Calibri"/>
              </a:rPr>
              <a:t>3 papers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02920" y="5522976"/>
            <a:ext cx="566928" cy="54864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02920" y="5641848"/>
            <a:ext cx="56692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280160" y="5541264"/>
            <a:ext cx="78638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0B0B0B"/>
                </a:solidFill>
                <a:latin typeface="Calibri"/>
              </a:rPr>
              <a:t>Fire weather &amp; data foundations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280160" y="5843016"/>
            <a:ext cx="7863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52514E"/>
                </a:solidFill>
                <a:latin typeface="Calibri"/>
              </a:rPr>
              <a:t>Abatzoglou'13 · Sakr'10 · Martin-Gomez'26 · Akdagli'26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92640" y="5641848"/>
            <a:ext cx="19202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6B6B6B"/>
                </a:solidFill>
                <a:latin typeface="Calibri"/>
              </a:rPr>
              <a:t>4 papers</a:t>
            </a:r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90E0C413-5B6F-2CDD-D449-588ED65751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6800"/>
            <a:ext cx="1767840" cy="681515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B72C935C-8649-6F52-44EC-D1EF1BDBB6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742" y="207040"/>
            <a:ext cx="1554196" cy="310839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18160" y="782733"/>
            <a:ext cx="1115568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700" b="1" i="0">
                <a:solidFill>
                  <a:srgbClr val="0B0B0B"/>
                </a:solidFill>
                <a:latin typeface="Calibri"/>
              </a:rPr>
              <a:t>Theme A - Machine Learning for Fire Occurrence &amp; Susceptibility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55664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000" b="0" i="0">
                <a:solidFill>
                  <a:srgbClr val="898781"/>
                </a:solidFill>
                <a:latin typeface="Calibri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98781"/>
                </a:solidFill>
                <a:latin typeface="Calibri"/>
              </a:rPr>
              <a:t>Real-Time Forest Fire Detection | Kafka &amp; Stream Processing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481328"/>
            <a:ext cx="11155680" cy="907084"/>
          </a:xfrm>
          <a:prstGeom prst="rect">
            <a:avLst/>
          </a:prstGeom>
          <a:solidFill>
            <a:srgbClr val="F6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2920" y="1481328"/>
            <a:ext cx="64008" cy="907084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1545336"/>
            <a:ext cx="10744200" cy="7973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1" i="0">
                <a:solidFill>
                  <a:srgbClr val="0B0B0B"/>
                </a:solidFill>
                <a:latin typeface="Calibri"/>
              </a:rPr>
              <a:t>Cortez &amp; Morais (2007). A Data Mining Approach to Predict Forest Fires using Meteorological Data. New Trends in Artificial Intelligence (EPIA).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0" i="0">
                <a:solidFill>
                  <a:srgbClr val="52514E"/>
                </a:solidFill>
                <a:latin typeface="Calibri"/>
              </a:rPr>
              <a:t>Findings:  Data-mining baseline on the Fire-Weather-Index dataset; SVM tuned via grid search; sparse-small-fire problem documented.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52514E"/>
                </a:solidFill>
                <a:latin typeface="Calibri"/>
              </a:rPr>
              <a:t>Relevance:  Direct ancestor of our tabular setup - fire occurrence from daily weather only.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461564"/>
            <a:ext cx="11155680" cy="907084"/>
          </a:xfrm>
          <a:prstGeom prst="rect">
            <a:avLst/>
          </a:prstGeom>
          <a:solidFill>
            <a:srgbClr val="F6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02920" y="2461564"/>
            <a:ext cx="64008" cy="907084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31520" y="2525572"/>
            <a:ext cx="10744200" cy="7973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1" i="0">
                <a:solidFill>
                  <a:srgbClr val="0B0B0B"/>
                </a:solidFill>
                <a:latin typeface="Calibri"/>
              </a:rPr>
              <a:t>Jain et al. (2020). A review of machine learning applications in wildfire science and management. Environmental Reviews, 28(4).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0" i="0">
                <a:solidFill>
                  <a:srgbClr val="52514E"/>
                </a:solidFill>
                <a:latin typeface="Calibri"/>
              </a:rPr>
              <a:t>Findings:  Landmark survey (700+ citations) mapping ML to occurrence, spread, detection and fuels; flags data quality and validation gaps.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52514E"/>
                </a:solidFill>
                <a:latin typeface="Calibri"/>
              </a:rPr>
              <a:t>Relevance:  Frames our model-choice rationale and evaluation protocol.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3441801"/>
            <a:ext cx="11155680" cy="907084"/>
          </a:xfrm>
          <a:prstGeom prst="rect">
            <a:avLst/>
          </a:prstGeom>
          <a:solidFill>
            <a:srgbClr val="F6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02920" y="3441801"/>
            <a:ext cx="64008" cy="907084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31520" y="3505809"/>
            <a:ext cx="10744200" cy="7973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1" i="0">
                <a:solidFill>
                  <a:srgbClr val="0B0B0B"/>
                </a:solidFill>
                <a:latin typeface="Calibri"/>
              </a:rPr>
              <a:t>Sayad, Mousannif &amp; Al Moatassime (2019). Predictive modeling of wildfires: a new dataset and machine learning approach. Fire Safety Journal, 104.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0" i="0">
                <a:solidFill>
                  <a:srgbClr val="52514E"/>
                </a:solidFill>
                <a:latin typeface="Calibri"/>
              </a:rPr>
              <a:t>Findings:  Fuses GIS + weather + remotely-sensed features; ANN and LDA compared; releases a reusable dataset.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52514E"/>
                </a:solidFill>
                <a:latin typeface="Calibri"/>
              </a:rPr>
              <a:t>Relevance:  Validates multi-source feature fusion like our gridMET+label join.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4422038"/>
            <a:ext cx="11155680" cy="907084"/>
          </a:xfrm>
          <a:prstGeom prst="rect">
            <a:avLst/>
          </a:prstGeom>
          <a:solidFill>
            <a:srgbClr val="F6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02920" y="4422038"/>
            <a:ext cx="64008" cy="907084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31520" y="4486046"/>
            <a:ext cx="10744200" cy="7973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1" i="0">
                <a:solidFill>
                  <a:srgbClr val="0B0B0B"/>
                </a:solidFill>
                <a:latin typeface="Calibri"/>
              </a:rPr>
              <a:t>Shmuel &amp; Heifetz (2022). Global wildfire susceptibility mapping based on machine learning models. Forests, 13(6).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0" i="0">
                <a:solidFill>
                  <a:srgbClr val="52514E"/>
                </a:solidFill>
                <a:latin typeface="Calibri"/>
              </a:rPr>
              <a:t>Findings:  Benchmarks susceptibility models globally; identifies dominant drivers (dryness, temperature, human pressure).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52514E"/>
                </a:solidFill>
                <a:latin typeface="Calibri"/>
              </a:rPr>
              <a:t>Relevance:  Supports using fire-danger indices (ERC, VPD) as first-class features.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5402275"/>
            <a:ext cx="11155680" cy="907084"/>
          </a:xfrm>
          <a:prstGeom prst="rect">
            <a:avLst/>
          </a:prstGeom>
          <a:solidFill>
            <a:srgbClr val="F6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02920" y="5402275"/>
            <a:ext cx="64008" cy="907084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31520" y="5466283"/>
            <a:ext cx="10744200" cy="7973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1" i="0">
                <a:solidFill>
                  <a:srgbClr val="0B0B0B"/>
                </a:solidFill>
                <a:latin typeface="Calibri"/>
              </a:rPr>
              <a:t>Bot &amp; Borges (2022). A Systematic Review of Applications of Machine Learning Techniques for Wildfire Fire Management. Inventions, 7(3).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0" i="0">
                <a:solidFill>
                  <a:srgbClr val="52514E"/>
                </a:solidFill>
                <a:latin typeface="Calibri"/>
              </a:rPr>
              <a:t>Findings:  Systematic PRISMA-style review of ML for wildfire management tasks and metrics.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52514E"/>
                </a:solidFill>
                <a:latin typeface="Calibri"/>
              </a:rPr>
              <a:t>Relevance:  Basis for our recall-first metric policy under imbalance.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34CF69B5-690F-1264-0637-C9240D0699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6800"/>
            <a:ext cx="1767840" cy="681515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8224C58C-8526-9FDE-7251-98AB9284A6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742" y="207040"/>
            <a:ext cx="1554196" cy="310839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1BAF7A"/>
                </a:solidFill>
                <a:latin typeface="Calibri"/>
              </a:rPr>
              <a:t>03 LITERATURE REV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97041"/>
            <a:ext cx="1115568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700" b="1" i="0">
                <a:solidFill>
                  <a:srgbClr val="0B0B0B"/>
                </a:solidFill>
                <a:latin typeface="Calibri"/>
              </a:rPr>
              <a:t>Theme B - Deep Learning &amp; Spatiotemporal Fire Prediction (1/2)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55664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000" b="0" i="0">
                <a:solidFill>
                  <a:srgbClr val="898781"/>
                </a:solidFill>
                <a:latin typeface="Calibri"/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98781"/>
                </a:solidFill>
                <a:latin typeface="Calibri"/>
              </a:rPr>
              <a:t>Real-Time Forest Fire Detection | Kafka &amp; Stream Processing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481328"/>
            <a:ext cx="11155680" cy="1152144"/>
          </a:xfrm>
          <a:prstGeom prst="rect">
            <a:avLst/>
          </a:prstGeom>
          <a:solidFill>
            <a:srgbClr val="F6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2920" y="1481328"/>
            <a:ext cx="64008" cy="1152144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1545336"/>
            <a:ext cx="10744200" cy="10424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50" b="1" i="0">
                <a:solidFill>
                  <a:srgbClr val="0B0B0B"/>
                </a:solidFill>
                <a:latin typeface="Calibri"/>
              </a:rPr>
              <a:t>Shi, Chen, Wang, Yeung, Wong &amp; Woo (2015). Convolutional LSTM Network: A Machine Learning Approach for Precipitation Nowcasting. NeurIPS 28.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0" i="0">
                <a:solidFill>
                  <a:srgbClr val="52514E"/>
                </a:solidFill>
                <a:latin typeface="Calibri"/>
              </a:rPr>
              <a:t>Findings:  Introduces ConvLSTM - convolutional recurrent cells that encode spatiotemporal grids; the nowcasting paradigm.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52514E"/>
                </a:solidFill>
                <a:latin typeface="Calibri"/>
              </a:rPr>
              <a:t>Relevance:  Architecture of our ConvLSTM spatial model (10×10 grid).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706624"/>
            <a:ext cx="11155680" cy="1152144"/>
          </a:xfrm>
          <a:prstGeom prst="rect">
            <a:avLst/>
          </a:prstGeom>
          <a:solidFill>
            <a:srgbClr val="F6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02920" y="2706624"/>
            <a:ext cx="64008" cy="1152144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31520" y="2770632"/>
            <a:ext cx="10744200" cy="10424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50" b="1" i="0">
                <a:solidFill>
                  <a:srgbClr val="0B0B0B"/>
                </a:solidFill>
                <a:latin typeface="Calibri"/>
              </a:rPr>
              <a:t>Radke, Hessler &amp; Long (2019). FireCast: Leveraging Deep Learning to Predict Wildfire Spread. IJCAI 2019.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0" i="0">
                <a:solidFill>
                  <a:srgbClr val="52514E"/>
                </a:solidFill>
                <a:latin typeface="Calibri"/>
              </a:rPr>
              <a:t>Findings:  CNN+RNN hybrid over weather stacks beats logistic-regression baselines for 2-3h spread prediction.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52514E"/>
                </a:solidFill>
                <a:latin typeface="Calibri"/>
              </a:rPr>
              <a:t>Relevance:  Evidence that DL beats classical ML on the same features.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3931920"/>
            <a:ext cx="11155680" cy="1152144"/>
          </a:xfrm>
          <a:prstGeom prst="rect">
            <a:avLst/>
          </a:prstGeom>
          <a:solidFill>
            <a:srgbClr val="F6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02920" y="3931920"/>
            <a:ext cx="64008" cy="1152144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31520" y="3995928"/>
            <a:ext cx="10744200" cy="10424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50" b="1" i="0">
                <a:solidFill>
                  <a:srgbClr val="0B0B0B"/>
                </a:solidFill>
                <a:latin typeface="Calibri"/>
              </a:rPr>
              <a:t>Huot et al. (2022). Next Day Wildfire Spread: A Machine Learning Dataset to Predict Wildfire Spreading from Remote-Sensing Data. IEEE TGRS, 60.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0" i="0">
                <a:solidFill>
                  <a:srgbClr val="52514E"/>
                </a:solidFill>
                <a:latin typeface="Calibri"/>
              </a:rPr>
              <a:t>Findings:  Google's 1-km next-day dataset: weather, vegetation, topography; strong baselines (logistic regression is surprisingly competitive).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52514E"/>
                </a:solidFill>
                <a:latin typeface="Calibri"/>
              </a:rPr>
              <a:t>Relevance:  Template for our feature set and next-cell-day prediction task.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5157216"/>
            <a:ext cx="11155680" cy="1152144"/>
          </a:xfrm>
          <a:prstGeom prst="rect">
            <a:avLst/>
          </a:prstGeom>
          <a:solidFill>
            <a:srgbClr val="F6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02920" y="5157216"/>
            <a:ext cx="64008" cy="1152144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31520" y="5221224"/>
            <a:ext cx="10744200" cy="10424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50" b="1" i="0">
                <a:solidFill>
                  <a:srgbClr val="0B0B0B"/>
                </a:solidFill>
                <a:latin typeface="Calibri"/>
              </a:rPr>
              <a:t>Marjani et al. (2024). CNN-BiLSTM: A Novel Deep Learning Model for Near-Real-Time Daily Wildfire Spread. Remote Sensing, 16(8).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0" i="0">
                <a:solidFill>
                  <a:srgbClr val="52514E"/>
                </a:solidFill>
                <a:latin typeface="Calibri"/>
              </a:rPr>
              <a:t>Findings:  Hybrid convolutional + bidirectional LSTM for daily spread at 1 km with near-real-time intent.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52514E"/>
                </a:solidFill>
                <a:latin typeface="Calibri"/>
              </a:rPr>
              <a:t>Relevance:  Direct architectural cousin of our LSTM/ConvLSTM serving tier.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B22F444C-3490-E80C-BAF0-75BD7030EB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6800"/>
            <a:ext cx="1767840" cy="681515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9C054E60-B8D4-F24A-31F7-D347784CCD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742" y="207040"/>
            <a:ext cx="1554196" cy="310839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831782"/>
            <a:ext cx="1115568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700" b="1" i="0">
                <a:solidFill>
                  <a:srgbClr val="0B0B0B"/>
                </a:solidFill>
                <a:latin typeface="Calibri"/>
              </a:rPr>
              <a:t>Theme B - Deep Learning &amp; Spatiotemporal Fire Prediction (2/2)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55664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000" b="0" i="0">
                <a:solidFill>
                  <a:srgbClr val="898781"/>
                </a:solidFill>
                <a:latin typeface="Calibri"/>
              </a:rP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98781"/>
                </a:solidFill>
                <a:latin typeface="Calibri"/>
              </a:rPr>
              <a:t>Real-Time Forest Fire Detection | Kafka &amp; Stream Processing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481328"/>
            <a:ext cx="11155680" cy="907084"/>
          </a:xfrm>
          <a:prstGeom prst="rect">
            <a:avLst/>
          </a:prstGeom>
          <a:solidFill>
            <a:srgbClr val="F6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2920" y="1481328"/>
            <a:ext cx="64008" cy="907084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1545336"/>
            <a:ext cx="10744200" cy="7973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1" i="0">
                <a:solidFill>
                  <a:srgbClr val="0B0B0B"/>
                </a:solidFill>
                <a:latin typeface="Calibri"/>
              </a:rPr>
              <a:t>Andrianarivony &amp; Akhloufi (2024). Machine Learning and Deep Learning for Wildfire Spread Prediction: A Review. Fire, 7(2).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0" i="0">
                <a:solidFill>
                  <a:srgbClr val="52514E"/>
                </a:solidFill>
                <a:latin typeface="Calibri"/>
              </a:rPr>
              <a:t>Findings:  Taxonomy of spread-prediction architectures (CNN, RNN, GNN, transformers) and datasets.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52514E"/>
                </a:solidFill>
                <a:latin typeface="Calibri"/>
              </a:rPr>
              <a:t>Relevance:  Justifies evaluating several model families rather than one.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461564"/>
            <a:ext cx="11155680" cy="907084"/>
          </a:xfrm>
          <a:prstGeom prst="rect">
            <a:avLst/>
          </a:prstGeom>
          <a:solidFill>
            <a:srgbClr val="F6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02920" y="2461564"/>
            <a:ext cx="64008" cy="907084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31520" y="2525572"/>
            <a:ext cx="10744200" cy="7973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1" i="0">
                <a:solidFill>
                  <a:srgbClr val="0B0B0B"/>
                </a:solidFill>
                <a:latin typeface="Calibri"/>
              </a:rPr>
              <a:t>Nguyen Van &amp; Lee (2025). Optimizing Stacked Ensemble Machine Learning Models for Accurate Wildfire Spread Prediction. Remote Sensing, 17(9).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0" i="0">
                <a:solidFill>
                  <a:srgbClr val="52514E"/>
                </a:solidFill>
                <a:latin typeface="Calibri"/>
              </a:rPr>
              <a:t>Findings:  Stacked ensembles with base-learner diversity improve spread accuracy and calibration.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52514E"/>
                </a:solidFill>
                <a:latin typeface="Calibri"/>
              </a:rPr>
              <a:t>Relevance:  Motivates ensembling RF + XGBoost for the streaming tier.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3441801"/>
            <a:ext cx="11155680" cy="907084"/>
          </a:xfrm>
          <a:prstGeom prst="rect">
            <a:avLst/>
          </a:prstGeom>
          <a:solidFill>
            <a:srgbClr val="F6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02920" y="3441801"/>
            <a:ext cx="64008" cy="907084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31520" y="3505809"/>
            <a:ext cx="10744200" cy="7973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1" i="0">
                <a:solidFill>
                  <a:srgbClr val="0B0B0B"/>
                </a:solidFill>
                <a:latin typeface="Calibri"/>
              </a:rPr>
              <a:t>Anastasiou &amp; Kondylatos (2026). Wildfire Spread Forecasting With Deep Learning. IEEE Access.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0" i="0">
                <a:solidFill>
                  <a:srgbClr val="52514E"/>
                </a:solidFill>
                <a:latin typeface="Calibri"/>
              </a:rPr>
              <a:t>Findings:  Large-scale DL forecasting of spread with multi-source inputs and ablations.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52514E"/>
                </a:solidFill>
                <a:latin typeface="Calibri"/>
              </a:rPr>
              <a:t>Relevance:  Confirms DL readiness for operational cadences.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4422038"/>
            <a:ext cx="11155680" cy="907084"/>
          </a:xfrm>
          <a:prstGeom prst="rect">
            <a:avLst/>
          </a:prstGeom>
          <a:solidFill>
            <a:srgbClr val="F6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02920" y="4422038"/>
            <a:ext cx="64008" cy="907084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31520" y="4486046"/>
            <a:ext cx="10744200" cy="7973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1" i="0">
                <a:solidFill>
                  <a:srgbClr val="0B0B0B"/>
                </a:solidFill>
                <a:latin typeface="Calibri"/>
              </a:rPr>
              <a:t>Kim &amp; Hu (2025). Assessment of deep learning models integrated with weather and environmental variables for wildfire spread prediction. Natural Hazards.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0" i="0">
                <a:solidFill>
                  <a:srgbClr val="52514E"/>
                </a:solidFill>
                <a:latin typeface="Calibri"/>
              </a:rPr>
              <a:t>Findings:  Ablation study quantifying how weather covariates improve DL spread models.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52514E"/>
                </a:solidFill>
                <a:latin typeface="Calibri"/>
              </a:rPr>
              <a:t>Relevance:  Guides which rolling aggregates our windowing must emit.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5402275"/>
            <a:ext cx="11155680" cy="907084"/>
          </a:xfrm>
          <a:prstGeom prst="rect">
            <a:avLst/>
          </a:prstGeom>
          <a:solidFill>
            <a:srgbClr val="F6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02920" y="5402275"/>
            <a:ext cx="64008" cy="907084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31520" y="5466283"/>
            <a:ext cx="10744200" cy="7973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1" i="0">
                <a:solidFill>
                  <a:srgbClr val="0B0B0B"/>
                </a:solidFill>
                <a:latin typeface="Calibri"/>
              </a:rPr>
              <a:t>Zakari &amp; Malik (2025). An Enhanced Wildfire Spread Prediction Using Multimodal Satellite Imagery and Deep Learning. Remote Sens. Appl.: Soc. Environ.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0" i="0">
                <a:solidFill>
                  <a:srgbClr val="52514E"/>
                </a:solidFill>
                <a:latin typeface="Calibri"/>
              </a:rPr>
              <a:t>Findings:  Multimodal satellite fusion (optical + thermal) with DL improves detection-to-prediction pipelines.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52514E"/>
                </a:solidFill>
                <a:latin typeface="Calibri"/>
              </a:rPr>
              <a:t>Relevance:  Roadmap for adding imagery to our weather-only stream.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896FBB9B-DF55-3F02-242B-8AC28F2BAF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6800"/>
            <a:ext cx="1767840" cy="681515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D9D036D6-663F-6F75-2193-9B797B119C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742" y="207040"/>
            <a:ext cx="1554196" cy="310839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lang="en-US" sz="1200" b="1" i="0">
                <a:solidFill>
                  <a:srgbClr val="EB6834"/>
                </a:solidFill>
                <a:latin typeface="Calibri"/>
              </a:rPr>
              <a:t>v</a:t>
            </a:r>
            <a:endParaRPr sz="1200" b="1" i="0">
              <a:solidFill>
                <a:srgbClr val="EB6834"/>
              </a:solidFill>
              <a:latin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33400" y="933601"/>
            <a:ext cx="1115568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700" b="1" i="0">
                <a:solidFill>
                  <a:srgbClr val="0B0B0B"/>
                </a:solidFill>
                <a:latin typeface="Calibri"/>
              </a:rPr>
              <a:t>Theme C - Real-Time Fire &amp; Smoke Detection: Vision and Edge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55664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000" b="0" i="0">
                <a:solidFill>
                  <a:srgbClr val="898781"/>
                </a:solidFill>
                <a:latin typeface="Calibri"/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98781"/>
                </a:solidFill>
                <a:latin typeface="Calibri"/>
              </a:rPr>
              <a:t>Real-Time Forest Fire Detection | Kafka &amp; Stream Processing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481328"/>
            <a:ext cx="11155680" cy="907084"/>
          </a:xfrm>
          <a:prstGeom prst="rect">
            <a:avLst/>
          </a:prstGeom>
          <a:solidFill>
            <a:srgbClr val="F6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2920" y="1481328"/>
            <a:ext cx="64008" cy="907084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1545336"/>
            <a:ext cx="10744200" cy="7973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1" i="0">
                <a:solidFill>
                  <a:srgbClr val="0B0B0B"/>
                </a:solidFill>
                <a:latin typeface="Calibri"/>
              </a:rPr>
              <a:t>Alkhatib (2014). A Review on Forest Fire Detection Techniques. International Journal of Distributed Sensor Networks.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0" i="0">
                <a:solidFill>
                  <a:srgbClr val="52514E"/>
                </a:solidFill>
                <a:latin typeface="Calibri"/>
              </a:rPr>
              <a:t>Findings:  Compares satellite, camera, and sensor-node detection; discusses latency and false-alarm trade-offs.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52514E"/>
                </a:solidFill>
                <a:latin typeface="Calibri"/>
              </a:rPr>
              <a:t>Relevance:  Core motivation for sub-minute, stream-native detection.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461564"/>
            <a:ext cx="11155680" cy="907084"/>
          </a:xfrm>
          <a:prstGeom prst="rect">
            <a:avLst/>
          </a:prstGeom>
          <a:solidFill>
            <a:srgbClr val="F6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02920" y="2461564"/>
            <a:ext cx="64008" cy="907084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31520" y="2525572"/>
            <a:ext cx="10744200" cy="7973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1" i="0">
                <a:solidFill>
                  <a:srgbClr val="0B0B0B"/>
                </a:solidFill>
                <a:latin typeface="Calibri"/>
              </a:rPr>
              <a:t>Barmpoutis et al. (2020). A Review on Early Forest Fire Detection Systems Using Optical Remote Sensing. Sensors, 20(22).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0" i="0">
                <a:solidFill>
                  <a:srgbClr val="52514E"/>
                </a:solidFill>
                <a:latin typeface="Calibri"/>
              </a:rPr>
              <a:t>Findings:  Survey of optical/IR early-detection systems; benchmarks detection delay and accuracy.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52514E"/>
                </a:solidFill>
                <a:latin typeface="Calibri"/>
              </a:rPr>
              <a:t>Relevance:  Sets the latency targets our alerting tier must beat.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3441801"/>
            <a:ext cx="11155680" cy="907084"/>
          </a:xfrm>
          <a:prstGeom prst="rect">
            <a:avLst/>
          </a:prstGeom>
          <a:solidFill>
            <a:srgbClr val="F6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02920" y="3441801"/>
            <a:ext cx="64008" cy="907084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31520" y="3505809"/>
            <a:ext cx="10744200" cy="7973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1" i="0">
                <a:solidFill>
                  <a:srgbClr val="0B0B0B"/>
                </a:solidFill>
                <a:latin typeface="Calibri"/>
              </a:rPr>
              <a:t>Tao &amp; Li (2025). Improved Lightweight YOLOv11 Algorithm for Real-Time Forest Fire Detection. Electronics, 14.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0" i="0">
                <a:solidFill>
                  <a:srgbClr val="52514E"/>
                </a:solidFill>
                <a:latin typeface="Calibri"/>
              </a:rPr>
              <a:t>Findings:  Pruned YOLOv11 variant keeps accuracy while meeting real-time budgets on edge hardware.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52514E"/>
                </a:solidFill>
                <a:latin typeface="Calibri"/>
              </a:rPr>
              <a:t>Relevance:  Shows engineering pattern for low-latency inference operators.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4422038"/>
            <a:ext cx="11155680" cy="907084"/>
          </a:xfrm>
          <a:prstGeom prst="rect">
            <a:avLst/>
          </a:prstGeom>
          <a:solidFill>
            <a:srgbClr val="F6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02920" y="4422038"/>
            <a:ext cx="64008" cy="907084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31520" y="4486046"/>
            <a:ext cx="10744200" cy="7973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1" i="0">
                <a:solidFill>
                  <a:srgbClr val="0B0B0B"/>
                </a:solidFill>
                <a:latin typeface="Calibri"/>
              </a:rPr>
              <a:t>Wang &amp; Li (2025). DPMNet: A Remote Sensing Forest Fire Real-Time Detection Network Driven by Dual-Perspective Multiscale Features. IEEE TCAS-I.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0" i="0">
                <a:solidFill>
                  <a:srgbClr val="52514E"/>
                </a:solidFill>
                <a:latin typeface="Calibri"/>
              </a:rPr>
              <a:t>Findings:  Dual-perspective multiscale detector for satellite fire pixels at video rate.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52514E"/>
                </a:solidFill>
                <a:latin typeface="Calibri"/>
              </a:rPr>
              <a:t>Relevance:  Candidate future fusion input for the same Kafka backbone.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5402275"/>
            <a:ext cx="11155680" cy="907084"/>
          </a:xfrm>
          <a:prstGeom prst="rect">
            <a:avLst/>
          </a:prstGeom>
          <a:solidFill>
            <a:srgbClr val="F6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02920" y="5402275"/>
            <a:ext cx="64008" cy="907084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31520" y="5466283"/>
            <a:ext cx="10744200" cy="7973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1" i="0">
                <a:solidFill>
                  <a:srgbClr val="0B0B0B"/>
                </a:solidFill>
                <a:latin typeface="Calibri"/>
              </a:rPr>
              <a:t>Mu &amp; Yang (2025). Edge Computing-Based Real-Time Forest Fire Detection Using UAV Thermal and Color Imagery. IEEE JSTARS.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0" i="0">
                <a:solidFill>
                  <a:srgbClr val="52514E"/>
                </a:solidFill>
                <a:latin typeface="Calibri"/>
              </a:rPr>
              <a:t>Findings:  Edge-deployed fusion of thermal + RGB on UAVs; on-board inference to cut round-trip latency.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52514E"/>
                </a:solidFill>
                <a:latin typeface="Calibri"/>
              </a:rPr>
              <a:t>Relevance:  Reinforces compute-at-the-edge vs central - our producer-side filtering.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38C3FA7F-CE60-9688-FF72-F983126254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6800"/>
            <a:ext cx="1767840" cy="681515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8174A7CB-413D-1671-845D-D9DAE98157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742" y="207040"/>
            <a:ext cx="1554196" cy="310839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917448"/>
            <a:ext cx="1115568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700" b="1" i="0">
                <a:solidFill>
                  <a:srgbClr val="0B0B0B"/>
                </a:solidFill>
                <a:latin typeface="Calibri"/>
              </a:rPr>
              <a:t>Theme D - IoT &amp; Wireless Sensor Network Detection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55664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000" b="0" i="0">
                <a:solidFill>
                  <a:srgbClr val="898781"/>
                </a:solidFill>
                <a:latin typeface="Calibri"/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98781"/>
                </a:solidFill>
                <a:latin typeface="Calibri"/>
              </a:rPr>
              <a:t>Real-Time Forest Fire Detection | Kafka &amp; Stream Processing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481328"/>
            <a:ext cx="11155680" cy="1560576"/>
          </a:xfrm>
          <a:prstGeom prst="rect">
            <a:avLst/>
          </a:prstGeom>
          <a:solidFill>
            <a:srgbClr val="F6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2920" y="1481328"/>
            <a:ext cx="64008" cy="1560576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1545336"/>
            <a:ext cx="10744200" cy="14508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50" b="1" i="0">
                <a:solidFill>
                  <a:srgbClr val="0B0B0B"/>
                </a:solidFill>
                <a:latin typeface="Calibri"/>
              </a:rPr>
              <a:t>Chauhan, Semwal et al. (2013). Artificial neural network-based forest fire detection system using wireless sensor networks. IEEE INDICON.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0" i="0">
                <a:solidFill>
                  <a:srgbClr val="52514E"/>
                </a:solidFill>
                <a:latin typeface="Calibri"/>
              </a:rPr>
              <a:t>Findings:  ANN over multi-sensor node readings (temperature, humidity, smoke) for on-node fire classification.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52514E"/>
                </a:solidFill>
                <a:latin typeface="Calibri"/>
              </a:rPr>
              <a:t>Relevance:  Prototype of feature-based (not pixel) fire classification - our setup.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3115056"/>
            <a:ext cx="11155680" cy="1560576"/>
          </a:xfrm>
          <a:prstGeom prst="rect">
            <a:avLst/>
          </a:prstGeom>
          <a:solidFill>
            <a:srgbClr val="F6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02920" y="3115056"/>
            <a:ext cx="64008" cy="1560576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31520" y="3179064"/>
            <a:ext cx="10744200" cy="14508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50" b="1" i="0">
                <a:solidFill>
                  <a:srgbClr val="0B0B0B"/>
                </a:solidFill>
                <a:latin typeface="Calibri"/>
              </a:rPr>
              <a:t>Mohapatra &amp; Khilar (2016). Forest fire monitoring and detection of faulty nodes using wireless sensor networks. IEEE TENCON.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0" i="0">
                <a:solidFill>
                  <a:srgbClr val="52514E"/>
                </a:solidFill>
                <a:latin typeface="Calibri"/>
              </a:rPr>
              <a:t>Findings:  Fault-tolerant WSN monitoring; separates sensor faults from real events to cut false alarms.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52514E"/>
                </a:solidFill>
                <a:latin typeface="Calibri"/>
              </a:rPr>
              <a:t>Relevance:  Maps to our schema-validation and DLQ stage in Kafka Streams.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4748784"/>
            <a:ext cx="11155680" cy="1560576"/>
          </a:xfrm>
          <a:prstGeom prst="rect">
            <a:avLst/>
          </a:prstGeom>
          <a:solidFill>
            <a:srgbClr val="F6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02920" y="4748784"/>
            <a:ext cx="64008" cy="1560576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31520" y="4812792"/>
            <a:ext cx="10744200" cy="14508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50" b="1" i="0">
                <a:solidFill>
                  <a:srgbClr val="0B0B0B"/>
                </a:solidFill>
                <a:latin typeface="Calibri"/>
              </a:rPr>
              <a:t>Davis, Shekaramiz et al. (2023). Desert/Forest Fire Detection Using Machine/Deep Learning Techniques. Fire, 6(3).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0" i="0">
                <a:solidFill>
                  <a:srgbClr val="52514E"/>
                </a:solidFill>
                <a:latin typeface="Calibri"/>
              </a:rPr>
              <a:t>Findings:  Benchmark of ML/DL detectors across sensor and imagery modalities in arid and forest biomes.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52514E"/>
                </a:solidFill>
                <a:latin typeface="Calibri"/>
              </a:rPr>
              <a:t>Relevance:  Confirms robustness of weather-feature ML across biomes.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432F5FCD-C2CA-6325-8829-989D046763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6800"/>
            <a:ext cx="1767840" cy="68151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6C4A3921-FC6C-20F0-AB51-E8F999AFFE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742" y="207040"/>
            <a:ext cx="1554196" cy="310839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E349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E34948"/>
                </a:solidFill>
                <a:latin typeface="Calibri"/>
              </a:rPr>
              <a:t>03 LITERATURE 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33601"/>
            <a:ext cx="1115568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700" b="1" i="0">
                <a:solidFill>
                  <a:srgbClr val="0B0B0B"/>
                </a:solidFill>
                <a:latin typeface="Calibri"/>
              </a:rPr>
              <a:t>Theme E - Kafka &amp; Distributed Stream Processing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55664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000" b="0" i="0">
                <a:solidFill>
                  <a:srgbClr val="898781"/>
                </a:solidFill>
                <a:latin typeface="Calibri"/>
              </a:rPr>
              <a:t>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98781"/>
                </a:solidFill>
                <a:latin typeface="Calibri"/>
              </a:rPr>
              <a:t>Real-Time Forest Fire Detection | Kafka &amp; Stream Processing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481328"/>
            <a:ext cx="11155680" cy="907084"/>
          </a:xfrm>
          <a:prstGeom prst="rect">
            <a:avLst/>
          </a:prstGeom>
          <a:solidFill>
            <a:srgbClr val="F6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2920" y="1481328"/>
            <a:ext cx="64008" cy="907084"/>
          </a:xfrm>
          <a:prstGeom prst="rect">
            <a:avLst/>
          </a:prstGeom>
          <a:solidFill>
            <a:srgbClr val="E349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1545336"/>
            <a:ext cx="10744200" cy="7973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1" i="0">
                <a:solidFill>
                  <a:srgbClr val="0B0B0B"/>
                </a:solidFill>
                <a:latin typeface="Calibri"/>
              </a:rPr>
              <a:t>Kreps, Narkhede &amp; Rao (2011). Kafka: A Distributed Messaging System for Log Processing. NetDB'11.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0" i="0">
                <a:solidFill>
                  <a:srgbClr val="52514E"/>
                </a:solidFill>
                <a:latin typeface="Calibri"/>
              </a:rPr>
              <a:t>Findings:  The Kafka paper: partitioned, replicated append-only log; consumer groups; O(1) disk IO at scale.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52514E"/>
                </a:solidFill>
                <a:latin typeface="Calibri"/>
              </a:rPr>
              <a:t>Relevance:  The backbone of stages 2-4 and 9 of our methodology.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461564"/>
            <a:ext cx="11155680" cy="907084"/>
          </a:xfrm>
          <a:prstGeom prst="rect">
            <a:avLst/>
          </a:prstGeom>
          <a:solidFill>
            <a:srgbClr val="F6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02920" y="2461564"/>
            <a:ext cx="64008" cy="907084"/>
          </a:xfrm>
          <a:prstGeom prst="rect">
            <a:avLst/>
          </a:prstGeom>
          <a:solidFill>
            <a:srgbClr val="E349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31520" y="2525572"/>
            <a:ext cx="10744200" cy="7973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1" i="0">
                <a:solidFill>
                  <a:srgbClr val="0B0B0B"/>
                </a:solidFill>
                <a:latin typeface="Calibri"/>
              </a:rPr>
              <a:t>Zaharia, Das, Li, Hunter, Shenker &amp; Stoica (2012). Discretized Streams: Fault-Tolerant Streaming Computation at Scale. NSDI'12.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0" i="0">
                <a:solidFill>
                  <a:srgbClr val="52514E"/>
                </a:solidFill>
                <a:latin typeface="Calibri"/>
              </a:rPr>
              <a:t>Findings:  Formalized micro-batch windowing with deterministic replay for fault tolerance.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52514E"/>
                </a:solidFill>
                <a:latin typeface="Calibri"/>
              </a:rPr>
              <a:t>Relevance:  Theoretical grounding for our tumbling/sliding window design.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3441801"/>
            <a:ext cx="11155680" cy="907084"/>
          </a:xfrm>
          <a:prstGeom prst="rect">
            <a:avLst/>
          </a:prstGeom>
          <a:solidFill>
            <a:srgbClr val="F6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02920" y="3441801"/>
            <a:ext cx="64008" cy="907084"/>
          </a:xfrm>
          <a:prstGeom prst="rect">
            <a:avLst/>
          </a:prstGeom>
          <a:solidFill>
            <a:srgbClr val="E349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31520" y="3505809"/>
            <a:ext cx="10744200" cy="7973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1" i="0">
                <a:solidFill>
                  <a:srgbClr val="0B0B0B"/>
                </a:solidFill>
                <a:latin typeface="Calibri"/>
              </a:rPr>
              <a:t>Isah, Abughofa, Mahfuz, Ajerla, Zulkernine &amp; Khan (2019). A Survey of Distributed Data Stream Processing Frameworks. IEEE Access, 7.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0" i="0">
                <a:solidFill>
                  <a:srgbClr val="52514E"/>
                </a:solidFill>
                <a:latin typeface="Calibri"/>
              </a:rPr>
              <a:t>Findings:  Comparative survey of Kafka, Spark, Flink, Storm semantics (delivery, state, windows).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52514E"/>
                </a:solidFill>
                <a:latin typeface="Calibri"/>
              </a:rPr>
              <a:t>Relevance:  Basis for choosing Kafka Streams over external compute.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4422038"/>
            <a:ext cx="11155680" cy="907084"/>
          </a:xfrm>
          <a:prstGeom prst="rect">
            <a:avLst/>
          </a:prstGeom>
          <a:solidFill>
            <a:srgbClr val="F6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02920" y="4422038"/>
            <a:ext cx="64008" cy="907084"/>
          </a:xfrm>
          <a:prstGeom prst="rect">
            <a:avLst/>
          </a:prstGeom>
          <a:solidFill>
            <a:srgbClr val="E349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31520" y="4486046"/>
            <a:ext cx="10744200" cy="7973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1" i="0">
                <a:solidFill>
                  <a:srgbClr val="0B0B0B"/>
                </a:solidFill>
                <a:latin typeface="Calibri"/>
              </a:rPr>
              <a:t>Nasiri, Nasehi &amp; Divsalar (2019). Evaluation of distributed stream processing frameworks for IoT applications in Smart Cities. Journal of Big Data, 6.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0" i="0">
                <a:solidFill>
                  <a:srgbClr val="52514E"/>
                </a:solidFill>
                <a:latin typeface="Calibri"/>
              </a:rPr>
              <a:t>Findings:  Benchmark: throughput/latency of Kafka-centric stacks under IoT event rates.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52514E"/>
                </a:solidFill>
                <a:latin typeface="Calibri"/>
              </a:rPr>
              <a:t>Relevance:  Informs partition counts and latency expectations.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5402275"/>
            <a:ext cx="11155680" cy="907084"/>
          </a:xfrm>
          <a:prstGeom prst="rect">
            <a:avLst/>
          </a:prstGeom>
          <a:solidFill>
            <a:srgbClr val="F6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02920" y="5402275"/>
            <a:ext cx="64008" cy="907084"/>
          </a:xfrm>
          <a:prstGeom prst="rect">
            <a:avLst/>
          </a:prstGeom>
          <a:solidFill>
            <a:srgbClr val="E349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31520" y="5466283"/>
            <a:ext cx="10744200" cy="7973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1" i="0">
                <a:solidFill>
                  <a:srgbClr val="0B0B0B"/>
                </a:solidFill>
                <a:latin typeface="Calibri"/>
              </a:rPr>
              <a:t>van Dongen &amp; Van Den Poel (2021). A Performance Analysis of Fault Recovery in Stream Processing Frameworks. IEEE Access, 9.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0" i="0">
                <a:solidFill>
                  <a:srgbClr val="52514E"/>
                </a:solidFill>
                <a:latin typeface="Calibri"/>
              </a:rPr>
              <a:t>Findings:  Quantifies recovery time and state-restore behaviour across frameworks.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52514E"/>
                </a:solidFill>
                <a:latin typeface="Calibri"/>
              </a:rPr>
              <a:t>Relevance:  Drives our replication and checkpointing settings.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441BB4A0-C92F-7E9D-927A-587635BF22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6800"/>
            <a:ext cx="1767840" cy="681515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9B03255E-368B-E3D2-E44F-998604BFA4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742" y="207040"/>
            <a:ext cx="1554196" cy="310839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A3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768096"/>
            <a:ext cx="1115568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700" b="1" i="0">
                <a:solidFill>
                  <a:srgbClr val="0B0B0B"/>
                </a:solidFill>
                <a:latin typeface="Calibri"/>
              </a:rPr>
              <a:t>Theme F - Concept Drift in Data Streams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55664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000" b="0" i="0">
                <a:solidFill>
                  <a:srgbClr val="898781"/>
                </a:solidFill>
                <a:latin typeface="Calibri"/>
              </a:rPr>
              <a:t>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98781"/>
                </a:solidFill>
                <a:latin typeface="Calibri"/>
              </a:rPr>
              <a:t>Real-Time Forest Fire Detection | Kafka &amp; Stream Processing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481328"/>
            <a:ext cx="11155680" cy="1560576"/>
          </a:xfrm>
          <a:prstGeom prst="rect">
            <a:avLst/>
          </a:prstGeom>
          <a:solidFill>
            <a:srgbClr val="F6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2920" y="1481328"/>
            <a:ext cx="64008" cy="1560576"/>
          </a:xfrm>
          <a:prstGeom prst="rect">
            <a:avLst/>
          </a:prstGeom>
          <a:solidFill>
            <a:srgbClr val="4A3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1545336"/>
            <a:ext cx="10744200" cy="14508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50" b="1" i="0">
                <a:solidFill>
                  <a:srgbClr val="0B0B0B"/>
                </a:solidFill>
                <a:latin typeface="Calibri"/>
              </a:rPr>
              <a:t>Wares, Isaacs &amp; Brooks (2019). Data stream mining: methods and challenges for handling concept drift. SN Applied Sciences, 1.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0" i="0">
                <a:solidFill>
                  <a:srgbClr val="52514E"/>
                </a:solidFill>
                <a:latin typeface="Calibri"/>
              </a:rPr>
              <a:t>Findings:  Survey of drift types (sudden/gradual/seasonal) and detection methods for streams.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52514E"/>
                </a:solidFill>
                <a:latin typeface="Calibri"/>
              </a:rPr>
              <a:t>Relevance:  Weather-to-fire relationships drift seasonally - motivates Evidently + Prefect loop.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3115056"/>
            <a:ext cx="11155680" cy="1560576"/>
          </a:xfrm>
          <a:prstGeom prst="rect">
            <a:avLst/>
          </a:prstGeom>
          <a:solidFill>
            <a:srgbClr val="F6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02920" y="3115056"/>
            <a:ext cx="64008" cy="1560576"/>
          </a:xfrm>
          <a:prstGeom prst="rect">
            <a:avLst/>
          </a:prstGeom>
          <a:solidFill>
            <a:srgbClr val="4A3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31520" y="3179064"/>
            <a:ext cx="10744200" cy="14508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50" b="1" i="0">
                <a:solidFill>
                  <a:srgbClr val="0B0B0B"/>
                </a:solidFill>
                <a:latin typeface="Calibri"/>
              </a:rPr>
              <a:t>Krawczyk et al. (2018). Combining active learning with concept drift detection for data stream mining. IEEE ICMLA.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0" i="0">
                <a:solidFill>
                  <a:srgbClr val="52514E"/>
                </a:solidFill>
                <a:latin typeface="Calibri"/>
              </a:rPr>
              <a:t>Findings:  Labels selectively when drift is detected - cheaper adaptation.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52514E"/>
                </a:solidFill>
                <a:latin typeface="Calibri"/>
              </a:rPr>
              <a:t>Relevance:  Blueprint for our drift-triggered retraining budget.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4748784"/>
            <a:ext cx="11155680" cy="1560576"/>
          </a:xfrm>
          <a:prstGeom prst="rect">
            <a:avLst/>
          </a:prstGeom>
          <a:solidFill>
            <a:srgbClr val="F6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02920" y="4748784"/>
            <a:ext cx="64008" cy="1560576"/>
          </a:xfrm>
          <a:prstGeom prst="rect">
            <a:avLst/>
          </a:prstGeom>
          <a:solidFill>
            <a:srgbClr val="4A3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31520" y="4812792"/>
            <a:ext cx="10744200" cy="14508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50" b="1" i="0">
                <a:solidFill>
                  <a:srgbClr val="0B0B0B"/>
                </a:solidFill>
                <a:latin typeface="Calibri"/>
              </a:rPr>
              <a:t>Korycki &amp; Krawczyk (2022). Adversarial concept drift detection under poisoning attacks for robust data streams. Machine Learning, 111.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0" i="0">
                <a:solidFill>
                  <a:srgbClr val="52514E"/>
                </a:solidFill>
                <a:latin typeface="Calibri"/>
              </a:rPr>
              <a:t>Findings:  Robust drift detection that resists manipulated streams.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52514E"/>
                </a:solidFill>
                <a:latin typeface="Calibri"/>
              </a:rPr>
              <a:t>Relevance:  Security consideration for our public alert channel.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7DFC82DE-CA59-381A-9C51-CFA5FC06E9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6800"/>
            <a:ext cx="1767840" cy="68151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3F93A0D4-6516-5445-90FB-BB79C9D2E1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742" y="207040"/>
            <a:ext cx="1554196" cy="310839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768096"/>
            <a:ext cx="1115568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700" b="1" i="0">
                <a:solidFill>
                  <a:srgbClr val="0B0B0B"/>
                </a:solidFill>
                <a:latin typeface="Calibri"/>
              </a:rPr>
              <a:t>Theme G - Fire Weather &amp; Data Foundations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55664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000" b="0" i="0">
                <a:solidFill>
                  <a:srgbClr val="898781"/>
                </a:solidFill>
                <a:latin typeface="Calibri"/>
              </a:rPr>
              <a:t>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98781"/>
                </a:solidFill>
                <a:latin typeface="Calibri"/>
              </a:rPr>
              <a:t>Real-Time Forest Fire Detection | Kafka &amp; Stream Processing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481328"/>
            <a:ext cx="11155680" cy="1152144"/>
          </a:xfrm>
          <a:prstGeom prst="rect">
            <a:avLst/>
          </a:prstGeom>
          <a:solidFill>
            <a:srgbClr val="F6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2920" y="1481328"/>
            <a:ext cx="64008" cy="1152144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1545336"/>
            <a:ext cx="10744200" cy="10424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50" b="1" i="0">
                <a:solidFill>
                  <a:srgbClr val="0B0B0B"/>
                </a:solidFill>
                <a:latin typeface="Calibri"/>
              </a:rPr>
              <a:t>Abatzoglou (2013). Development of gridded surface meteorological data for ecological applications and modelling. Int. J. of Climatology, 33.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0" i="0">
                <a:solidFill>
                  <a:srgbClr val="52514E"/>
                </a:solidFill>
                <a:latin typeface="Calibri"/>
              </a:rPr>
              <a:t>Findings:  gridMET: 4-km daily gridded meteorology for CONUS - our dataset's source.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52514E"/>
                </a:solidFill>
                <a:latin typeface="Calibri"/>
              </a:rPr>
              <a:t>Relevance:  Defines every feature our producer emits.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706624"/>
            <a:ext cx="11155680" cy="1152144"/>
          </a:xfrm>
          <a:prstGeom prst="rect">
            <a:avLst/>
          </a:prstGeom>
          <a:solidFill>
            <a:srgbClr val="F6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02920" y="2706624"/>
            <a:ext cx="64008" cy="1152144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31520" y="2770632"/>
            <a:ext cx="10744200" cy="10424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50" b="1" i="0">
                <a:solidFill>
                  <a:srgbClr val="0B0B0B"/>
                </a:solidFill>
                <a:latin typeface="Calibri"/>
              </a:rPr>
              <a:t>Sakr et al. (2010). Artificial intelligence for forest fire prediction. IEEE/ASME AIM.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0" i="0">
                <a:solidFill>
                  <a:srgbClr val="52514E"/>
                </a:solidFill>
                <a:latin typeface="Calibri"/>
              </a:rPr>
              <a:t>Findings:  ANN/SVM occurrence prediction with limited meteorological inputs.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52514E"/>
                </a:solidFill>
                <a:latin typeface="Calibri"/>
              </a:rPr>
              <a:t>Relevance:  Early proof that weather-only models are viable.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3931920"/>
            <a:ext cx="11155680" cy="1152144"/>
          </a:xfrm>
          <a:prstGeom prst="rect">
            <a:avLst/>
          </a:prstGeom>
          <a:solidFill>
            <a:srgbClr val="F6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02920" y="3931920"/>
            <a:ext cx="64008" cy="1152144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31520" y="3995928"/>
            <a:ext cx="10744200" cy="10424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50" b="1" i="0">
                <a:solidFill>
                  <a:srgbClr val="0B0B0B"/>
                </a:solidFill>
                <a:latin typeface="Calibri"/>
              </a:rPr>
              <a:t>Martin-Gomez et al. (2026). Daily Fire Danger Prediction in Catalonia using Machine Learning. (in press).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0" i="0">
                <a:solidFill>
                  <a:srgbClr val="52514E"/>
                </a:solidFill>
                <a:latin typeface="Calibri"/>
              </a:rPr>
              <a:t>Findings:  Operational daily fire-danger forecasting with ML at regional scale.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52514E"/>
                </a:solidFill>
                <a:latin typeface="Calibri"/>
              </a:rPr>
              <a:t>Relevance:  Operational-cadence precedent for our daily predictions.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5157216"/>
            <a:ext cx="11155680" cy="1152144"/>
          </a:xfrm>
          <a:prstGeom prst="rect">
            <a:avLst/>
          </a:prstGeom>
          <a:solidFill>
            <a:srgbClr val="F6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02920" y="5157216"/>
            <a:ext cx="64008" cy="1152144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31520" y="5221224"/>
            <a:ext cx="10744200" cy="10424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50" b="1" i="0">
                <a:solidFill>
                  <a:srgbClr val="0B0B0B"/>
                </a:solidFill>
                <a:latin typeface="Calibri"/>
              </a:rPr>
              <a:t>Akdagli et al. (2026). Machine learning for one day ahead prediction of high fire weather index conditions. Scientific Reports.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0" i="0">
                <a:solidFill>
                  <a:srgbClr val="52514E"/>
                </a:solidFill>
                <a:latin typeface="Calibri"/>
              </a:rPr>
              <a:t>Findings:  One-day-ahead FWI exceedance prediction with ML.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52514E"/>
                </a:solidFill>
                <a:latin typeface="Calibri"/>
              </a:rPr>
              <a:t>Relevance:  Analogous target: threshold exceedance → alerting.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323CE46A-BAA5-8B49-D18F-12DBA70A27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6800"/>
            <a:ext cx="1767840" cy="681515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23F8B67A-6F8E-63DB-5AB5-3ABF30910D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742" y="207040"/>
            <a:ext cx="1554196" cy="310839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797450" y="172950"/>
            <a:ext cx="11155680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600" b="1" i="0">
                <a:solidFill>
                  <a:srgbClr val="EB6834"/>
                </a:solidFill>
                <a:latin typeface="Calibri"/>
              </a:rPr>
              <a:t>04 SUMMARY OF LITERATURE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5660"/>
            <a:ext cx="1115568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700" b="1" i="0">
                <a:solidFill>
                  <a:srgbClr val="0B0B0B"/>
                </a:solidFill>
                <a:latin typeface="Calibri"/>
              </a:rPr>
              <a:t>What 34 Papers Tell Us - Synthesis Table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55664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000" b="0" i="0">
                <a:solidFill>
                  <a:srgbClr val="898781"/>
                </a:solidFill>
                <a:latin typeface="Calibri"/>
              </a:rPr>
              <a:t>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98781"/>
                </a:solidFill>
                <a:latin typeface="Calibri"/>
              </a:rPr>
              <a:t>Real-Time Forest Fire Detection | Kafka &amp; Stream Processing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508760"/>
          <a:ext cx="11292840" cy="36758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37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Theme</a:t>
                      </a:r>
                    </a:p>
                  </a:txBody>
                  <a:tcPr marL="73152" marR="54864" marT="27432" marB="27432" anchor="ctr">
                    <a:solidFill>
                      <a:srgbClr val="2A78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Representative works</a:t>
                      </a:r>
                    </a:p>
                  </a:txBody>
                  <a:tcPr marL="73152" marR="54864" marT="27432" marB="27432" anchor="ctr">
                    <a:solidFill>
                      <a:srgbClr val="2A78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Consensus finding</a:t>
                      </a:r>
                    </a:p>
                  </a:txBody>
                  <a:tcPr marL="73152" marR="54864" marT="27432" marB="27432" anchor="ctr">
                    <a:solidFill>
                      <a:srgbClr val="2A78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Implication for this project</a:t>
                      </a:r>
                    </a:p>
                  </a:txBody>
                  <a:tcPr marL="73152" marR="54864" marT="27432" marB="27432" anchor="ctr">
                    <a:solidFill>
                      <a:srgbClr val="2A78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B0B0B"/>
                          </a:solidFill>
                          <a:latin typeface="Calibri"/>
                        </a:rPr>
                        <a:t>ML occurrence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B0B0B"/>
                          </a:solidFill>
                          <a:latin typeface="Calibri"/>
                        </a:rPr>
                        <a:t>Cortez'07; Jain'20; Sayad'19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B0B0B"/>
                          </a:solidFill>
                          <a:latin typeface="Calibri"/>
                        </a:rPr>
                        <a:t>Daily weather carries strong predictive signal; imbalance is the norm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B0B0B"/>
                          </a:solidFill>
                          <a:latin typeface="Calibri"/>
                        </a:rPr>
                        <a:t>Weather-only features + SMOTEN + recall-first metrics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B0B0B"/>
                          </a:solidFill>
                          <a:latin typeface="Calibri"/>
                        </a:rPr>
                        <a:t>DL / spatiotemporal</a:t>
                      </a:r>
                    </a:p>
                  </a:txBody>
                  <a:tcPr marL="73152" marR="54864" marT="27432" marB="27432" anchor="ctr">
                    <a:solidFill>
                      <a:srgbClr val="F6F5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B0B0B"/>
                          </a:solidFill>
                          <a:latin typeface="Calibri"/>
                        </a:rPr>
                        <a:t>Shi'15; Radke'19; Huot'22; Marjani'24</a:t>
                      </a:r>
                    </a:p>
                  </a:txBody>
                  <a:tcPr marL="73152" marR="54864" marT="27432" marB="27432" anchor="ctr">
                    <a:solidFill>
                      <a:srgbClr val="F6F5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B0B0B"/>
                          </a:solidFill>
                          <a:latin typeface="Calibri"/>
                        </a:rPr>
                        <a:t>Conv+recurrent hybrids outperform classical ML on grids</a:t>
                      </a:r>
                    </a:p>
                  </a:txBody>
                  <a:tcPr marL="73152" marR="54864" marT="27432" marB="27432" anchor="ctr">
                    <a:solidFill>
                      <a:srgbClr val="F6F5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B0B0B"/>
                          </a:solidFill>
                          <a:latin typeface="Calibri"/>
                        </a:rPr>
                        <a:t>ConvLSTM on 10×10 grids alongside RF/XGB</a:t>
                      </a:r>
                    </a:p>
                  </a:txBody>
                  <a:tcPr marL="73152" marR="54864" marT="27432" marB="27432" anchor="ctr">
                    <a:solidFill>
                      <a:srgbClr val="F6F5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B0B0B"/>
                          </a:solidFill>
                          <a:latin typeface="Calibri"/>
                        </a:rPr>
                        <a:t>Real-time detection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B0B0B"/>
                          </a:solidFill>
                          <a:latin typeface="Calibri"/>
                        </a:rPr>
                        <a:t>Alkhatib'14; Barmpoutis'20; Tao'25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B0B0B"/>
                          </a:solidFill>
                          <a:latin typeface="Calibri"/>
                        </a:rPr>
                        <a:t>Detection value decays in minutes; edge/stream processing required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B0B0B"/>
                          </a:solidFill>
                          <a:latin typeface="Calibri"/>
                        </a:rPr>
                        <a:t>Sub-minute Kafka latency budget; DLQ validation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B0B0B"/>
                          </a:solidFill>
                          <a:latin typeface="Calibri"/>
                        </a:rPr>
                        <a:t>IoT / WSN</a:t>
                      </a:r>
                    </a:p>
                  </a:txBody>
                  <a:tcPr marL="73152" marR="54864" marT="27432" marB="27432" anchor="ctr">
                    <a:solidFill>
                      <a:srgbClr val="F6F5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B0B0B"/>
                          </a:solidFill>
                          <a:latin typeface="Calibri"/>
                        </a:rPr>
                        <a:t>Chauhan'13; Mohapatra'16</a:t>
                      </a:r>
                    </a:p>
                  </a:txBody>
                  <a:tcPr marL="73152" marR="54864" marT="27432" marB="27432" anchor="ctr">
                    <a:solidFill>
                      <a:srgbClr val="F6F5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B0B0B"/>
                          </a:solidFill>
                          <a:latin typeface="Calibri"/>
                        </a:rPr>
                        <a:t>Sensor faults masquerade as events; validation cuts false alarms</a:t>
                      </a:r>
                    </a:p>
                  </a:txBody>
                  <a:tcPr marL="73152" marR="54864" marT="27432" marB="27432" anchor="ctr">
                    <a:solidFill>
                      <a:srgbClr val="F6F5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B0B0B"/>
                          </a:solidFill>
                          <a:latin typeface="Calibri"/>
                        </a:rPr>
                        <a:t>Schema-check + dedup as first stream operator</a:t>
                      </a:r>
                    </a:p>
                  </a:txBody>
                  <a:tcPr marL="73152" marR="54864" marT="27432" marB="27432" anchor="ctr">
                    <a:solidFill>
                      <a:srgbClr val="F6F5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B0B0B"/>
                          </a:solidFill>
                          <a:latin typeface="Calibri"/>
                        </a:rPr>
                        <a:t>Kafka / stream proc.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B0B0B"/>
                          </a:solidFill>
                          <a:latin typeface="Calibri"/>
                        </a:rPr>
                        <a:t>Kreps'11; Zaharia'12; Isah'19; Nasiri'19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B0B0B"/>
                          </a:solidFill>
                          <a:latin typeface="Calibri"/>
                        </a:rPr>
                        <a:t>Partitioned logs + windows give scale, replay, fault tolerance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B0B0B"/>
                          </a:solidFill>
                          <a:latin typeface="Calibri"/>
                        </a:rPr>
                        <a:t>Kafka Streams with exactly-once, keyed by grid cell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B0B0B"/>
                          </a:solidFill>
                          <a:latin typeface="Calibri"/>
                        </a:rPr>
                        <a:t>Drift / adaptation</a:t>
                      </a:r>
                    </a:p>
                  </a:txBody>
                  <a:tcPr marL="73152" marR="54864" marT="27432" marB="27432" anchor="ctr">
                    <a:solidFill>
                      <a:srgbClr val="F6F5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B0B0B"/>
                          </a:solidFill>
                          <a:latin typeface="Calibri"/>
                        </a:rPr>
                        <a:t>Wares'19; Krawczyk'18; Korycki'22</a:t>
                      </a:r>
                    </a:p>
                  </a:txBody>
                  <a:tcPr marL="73152" marR="54864" marT="27432" marB="27432" anchor="ctr">
                    <a:solidFill>
                      <a:srgbClr val="F6F5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B0B0B"/>
                          </a:solidFill>
                          <a:latin typeface="Calibri"/>
                        </a:rPr>
                        <a:t>Fire-weather relationships drift; adaptation must be triggered, not scheduled</a:t>
                      </a:r>
                    </a:p>
                  </a:txBody>
                  <a:tcPr marL="73152" marR="54864" marT="27432" marB="27432" anchor="ctr">
                    <a:solidFill>
                      <a:srgbClr val="F6F5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B0B0B"/>
                          </a:solidFill>
                          <a:latin typeface="Calibri"/>
                        </a:rPr>
                        <a:t>Evidently drift → Prefect retraining → MLflow registry</a:t>
                      </a:r>
                    </a:p>
                  </a:txBody>
                  <a:tcPr marL="73152" marR="54864" marT="27432" marB="27432" anchor="ctr">
                    <a:solidFill>
                      <a:srgbClr val="F6F5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B0B0B"/>
                          </a:solidFill>
                          <a:latin typeface="Calibri"/>
                        </a:rPr>
                        <a:t>Fire weather data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B0B0B"/>
                          </a:solidFill>
                          <a:latin typeface="Calibri"/>
                        </a:rPr>
                        <a:t>Abatzoglou'13; FWI literature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B0B0B"/>
                          </a:solidFill>
                          <a:latin typeface="Calibri"/>
                        </a:rPr>
                        <a:t>GridMET-style indices (ERC, VPD, fm100) are operational standards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B0B0B"/>
                          </a:solidFill>
                          <a:latin typeface="Calibri"/>
                        </a:rPr>
                        <a:t>These indices are our engineered stream features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1EB66FD9-D421-6270-EF5E-8EE4461CAA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6800"/>
            <a:ext cx="1767840" cy="68151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8BA4765-1D8B-51E8-453C-4B8365C032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742" y="207040"/>
            <a:ext cx="1554196" cy="310839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60520" y="754380"/>
            <a:ext cx="1115568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700" b="1" i="0">
                <a:solidFill>
                  <a:srgbClr val="0B0B0B"/>
                </a:solidFill>
                <a:latin typeface="Calibri"/>
              </a:rPr>
              <a:t>Research Gaps → Our Contributions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55664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000" b="0" i="0">
                <a:solidFill>
                  <a:srgbClr val="898781"/>
                </a:solidFill>
                <a:latin typeface="Calibri"/>
              </a:rPr>
              <a:t>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98781"/>
                </a:solidFill>
                <a:latin typeface="Calibri"/>
              </a:rPr>
              <a:t>Real-Time Forest Fire Detection | Kafka &amp; Stream Processing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572768"/>
            <a:ext cx="11155680" cy="896112"/>
          </a:xfrm>
          <a:prstGeom prst="rect">
            <a:avLst/>
          </a:prstGeom>
          <a:solidFill>
            <a:srgbClr val="F6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627632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E34948"/>
                </a:solidFill>
                <a:latin typeface="Calibri"/>
              </a:rPr>
              <a:t>Gap 1 - Prediction is batch, alerts are decoupled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920240"/>
            <a:ext cx="53949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 i="0">
                <a:solidFill>
                  <a:srgbClr val="52514E"/>
                </a:solidFill>
                <a:latin typeface="Calibri"/>
              </a:rPr>
              <a:t>Most papers train offline and serve on demand; few wire the model into the message bus itself.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50292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 i="0">
                <a:solidFill>
                  <a:srgbClr val="1BAF7A"/>
                </a:solidFill>
                <a:latin typeface="Calibri"/>
              </a:rPr>
              <a:t>→ 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20840" y="1920240"/>
            <a:ext cx="48006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 i="0">
                <a:solidFill>
                  <a:srgbClr val="52514E"/>
                </a:solidFill>
                <a:latin typeface="Calibri"/>
              </a:rPr>
              <a:t>Model served as a stateful stream operator; alerts emitted to wildfire.alerts automatically.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2542032"/>
            <a:ext cx="11155680" cy="896112"/>
          </a:xfrm>
          <a:prstGeom prst="rect">
            <a:avLst/>
          </a:prstGeom>
          <a:solidFill>
            <a:srgbClr val="F6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31520" y="2596896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E34948"/>
                </a:solidFill>
                <a:latin typeface="Calibri"/>
              </a:rPr>
              <a:t>Gap 2 - Windowing &amp; feature engineering rarely evaluated together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889504"/>
            <a:ext cx="53949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 i="0">
                <a:solidFill>
                  <a:srgbClr val="52514E"/>
                </a:solidFill>
                <a:latin typeface="Calibri"/>
              </a:rPr>
              <a:t>Window semantics are described but their effect on detection quality is seldom measured.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889504"/>
            <a:ext cx="50292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 i="0">
                <a:solidFill>
                  <a:srgbClr val="1BAF7A"/>
                </a:solidFill>
                <a:latin typeface="Calibri"/>
              </a:rPr>
              <a:t>→ 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20840" y="2889504"/>
            <a:ext cx="48006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 i="0">
                <a:solidFill>
                  <a:srgbClr val="52514E"/>
                </a:solidFill>
                <a:latin typeface="Calibri"/>
              </a:rPr>
              <a:t>Explicit tumbling/sliding windows whose aggregates feed the model; measured end-to-end.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3511296"/>
            <a:ext cx="11155680" cy="896112"/>
          </a:xfrm>
          <a:prstGeom prst="rect">
            <a:avLst/>
          </a:prstGeom>
          <a:solidFill>
            <a:srgbClr val="F6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31520" y="35661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E34948"/>
                </a:solidFill>
                <a:latin typeface="Calibri"/>
              </a:rPr>
              <a:t>Gap 3 - Class imbalance handled casually in real-time settings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858768"/>
            <a:ext cx="53949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 i="0">
                <a:solidFill>
                  <a:srgbClr val="52514E"/>
                </a:solidFill>
                <a:latin typeface="Calibri"/>
              </a:rPr>
              <a:t>Resampling is routine offline but rarely re-visited once serving on a live, drifting stream.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3858768"/>
            <a:ext cx="50292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 i="0">
                <a:solidFill>
                  <a:srgbClr val="1BAF7A"/>
                </a:solidFill>
                <a:latin typeface="Calibri"/>
              </a:rPr>
              <a:t>→ 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20840" y="3858768"/>
            <a:ext cx="48006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 i="0">
                <a:solidFill>
                  <a:srgbClr val="52514E"/>
                </a:solidFill>
                <a:latin typeface="Calibri"/>
              </a:rPr>
              <a:t>Drift-aware retraining with SMOTEN refreshed on the current window.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4480560"/>
            <a:ext cx="11155680" cy="896112"/>
          </a:xfrm>
          <a:prstGeom prst="rect">
            <a:avLst/>
          </a:prstGeom>
          <a:solidFill>
            <a:srgbClr val="F6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31520" y="4535424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E34948"/>
                </a:solidFill>
                <a:latin typeface="Calibri"/>
              </a:rPr>
              <a:t>Gap 4 - Latency rarely reported alongside accuracy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4828032"/>
            <a:ext cx="53949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 i="0">
                <a:solidFill>
                  <a:srgbClr val="52514E"/>
                </a:solidFill>
                <a:latin typeface="Calibri"/>
              </a:rPr>
              <a:t>Papers report AUC/F1 without the latency/throughput budget that operations need.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4828032"/>
            <a:ext cx="50292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 i="0">
                <a:solidFill>
                  <a:srgbClr val="1BAF7A"/>
                </a:solidFill>
                <a:latin typeface="Calibri"/>
              </a:rPr>
              <a:t>→  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20840" y="4828032"/>
            <a:ext cx="48006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 i="0">
                <a:solidFill>
                  <a:srgbClr val="52514E"/>
                </a:solidFill>
                <a:latin typeface="Calibri"/>
              </a:rPr>
              <a:t>Evaluation includes p50/p95 latency and sustained throughput, not just detection quality.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5449824"/>
            <a:ext cx="11155680" cy="896112"/>
          </a:xfrm>
          <a:prstGeom prst="rect">
            <a:avLst/>
          </a:prstGeom>
          <a:solidFill>
            <a:srgbClr val="F6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31520" y="5504688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E34948"/>
                </a:solidFill>
                <a:latin typeface="Calibri"/>
              </a:rPr>
              <a:t>Gap 5 - MLOps loop missing from fire-DL literature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5797296"/>
            <a:ext cx="53949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 i="0">
                <a:solidFill>
                  <a:srgbClr val="52514E"/>
                </a:solidFill>
                <a:latin typeface="Calibri"/>
              </a:rPr>
              <a:t>Monitoring, retraining and versioning are seldom part of the published architecture.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5797296"/>
            <a:ext cx="50292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 i="0">
                <a:solidFill>
                  <a:srgbClr val="1BAF7A"/>
                </a:solidFill>
                <a:latin typeface="Calibri"/>
              </a:rPr>
              <a:t>→  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20840" y="5797296"/>
            <a:ext cx="48006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 i="0">
                <a:solidFill>
                  <a:srgbClr val="52514E"/>
                </a:solidFill>
                <a:latin typeface="Calibri"/>
              </a:rPr>
              <a:t>Evidently → Prefect → MLflow → K8s rollout is part of the design, not an afterthought.</a:t>
            </a: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CF91BADE-5E98-7DE0-A5F3-5C9D89F363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6800"/>
            <a:ext cx="1767840" cy="681515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04D7754A-9671-7A86-DF71-D2D2B9AA89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742" y="207040"/>
            <a:ext cx="1554196" cy="310839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A3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08437" y="453182"/>
            <a:ext cx="11155680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lang="en-US" sz="3600" b="1" i="0">
                <a:solidFill>
                  <a:srgbClr val="FF0000"/>
                </a:solidFill>
                <a:latin typeface="Calibri"/>
              </a:rPr>
              <a:t>OBJECTIVES</a:t>
            </a:r>
            <a:endParaRPr sz="3600" b="1" i="0">
              <a:solidFill>
                <a:srgbClr val="FF0000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292840" y="6455664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000" b="0" i="0">
                <a:solidFill>
                  <a:srgbClr val="898781"/>
                </a:solidFill>
                <a:latin typeface="Calibri"/>
              </a:rPr>
              <a:t>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98781"/>
                </a:solidFill>
                <a:latin typeface="Calibri"/>
              </a:rPr>
              <a:t>Real-Time Forest Fire Detection | Kafka &amp; Stream Processing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600200"/>
            <a:ext cx="11155680" cy="731520"/>
          </a:xfrm>
          <a:prstGeom prst="rect">
            <a:avLst/>
          </a:prstGeom>
          <a:solidFill>
            <a:srgbClr val="F6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2920" y="1600200"/>
            <a:ext cx="566928" cy="73152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1801368"/>
            <a:ext cx="56692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O1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1673352"/>
            <a:ext cx="102412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 i="0">
                <a:solidFill>
                  <a:srgbClr val="0B0B0B"/>
                </a:solidFill>
                <a:latin typeface="Calibri"/>
              </a:rPr>
              <a:t>O1 - Continuous ingestion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1984248"/>
            <a:ext cx="102412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52514E"/>
                </a:solidFill>
                <a:latin typeface="Calibri"/>
              </a:rPr>
              <a:t>Stream gridMET fire-weather events via Kafka producers into partitioned, keyed topics with schema validation.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2404872"/>
            <a:ext cx="11155680" cy="731520"/>
          </a:xfrm>
          <a:prstGeom prst="rect">
            <a:avLst/>
          </a:prstGeom>
          <a:solidFill>
            <a:srgbClr val="F6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02920" y="2404872"/>
            <a:ext cx="566928" cy="731520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2920" y="2606040"/>
            <a:ext cx="56692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O2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2478024"/>
            <a:ext cx="102412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 i="0">
                <a:solidFill>
                  <a:srgbClr val="0B0B0B"/>
                </a:solidFill>
                <a:latin typeface="Calibri"/>
              </a:rPr>
              <a:t>O2 - Filtering &amp; windowing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788920"/>
            <a:ext cx="102412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52514E"/>
                </a:solidFill>
                <a:latin typeface="Calibri"/>
              </a:rPr>
              <a:t>Implement Kafka Streams operators: schema check, dedup, tumbling 1-min and sliding 24-h windows.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3209544"/>
            <a:ext cx="11155680" cy="731520"/>
          </a:xfrm>
          <a:prstGeom prst="rect">
            <a:avLst/>
          </a:prstGeom>
          <a:solidFill>
            <a:srgbClr val="F6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02920" y="3209544"/>
            <a:ext cx="566928" cy="731520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02920" y="3410712"/>
            <a:ext cx="56692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O3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3282696"/>
            <a:ext cx="102412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 i="0">
                <a:solidFill>
                  <a:srgbClr val="0B0B0B"/>
                </a:solidFill>
                <a:latin typeface="Calibri"/>
              </a:rPr>
              <a:t>O3 - In-flight feature engineering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3593592"/>
            <a:ext cx="102412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52514E"/>
                </a:solidFill>
                <a:latin typeface="Calibri"/>
              </a:rPr>
              <a:t>Derive rolling aggregates and fire-weather indices on the stream; keep payloads lean by dropping redundant features.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4014216"/>
            <a:ext cx="11155680" cy="731520"/>
          </a:xfrm>
          <a:prstGeom prst="rect">
            <a:avLst/>
          </a:prstGeom>
          <a:solidFill>
            <a:srgbClr val="F6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02920" y="4014216"/>
            <a:ext cx="566928" cy="73152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02920" y="4215384"/>
            <a:ext cx="56692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O4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80160" y="4087368"/>
            <a:ext cx="102412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 i="0">
                <a:solidFill>
                  <a:srgbClr val="0B0B0B"/>
                </a:solidFill>
                <a:latin typeface="Calibri"/>
              </a:rPr>
              <a:t>O4 - Real-time ML/DL detection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80160" y="4398264"/>
            <a:ext cx="102412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52514E"/>
                </a:solidFill>
                <a:latin typeface="Calibri"/>
              </a:rPr>
              <a:t>Serve RF/XGBoost and LSTM/ConvLSTM models with &lt;2 s end-to-end latency and recall-first thresholds.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4818888"/>
            <a:ext cx="11155680" cy="731520"/>
          </a:xfrm>
          <a:prstGeom prst="rect">
            <a:avLst/>
          </a:prstGeom>
          <a:solidFill>
            <a:srgbClr val="F6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02920" y="4818888"/>
            <a:ext cx="566928" cy="731520"/>
          </a:xfrm>
          <a:prstGeom prst="rect">
            <a:avLst/>
          </a:prstGeom>
          <a:solidFill>
            <a:srgbClr val="E349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02920" y="5020056"/>
            <a:ext cx="56692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O5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80160" y="4892040"/>
            <a:ext cx="102412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 i="0">
                <a:solidFill>
                  <a:srgbClr val="0B0B0B"/>
                </a:solidFill>
                <a:latin typeface="Calibri"/>
              </a:rPr>
              <a:t>O5 - Tiered alerting &amp; delivery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80160" y="5202936"/>
            <a:ext cx="102412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52514E"/>
                </a:solidFill>
                <a:latin typeface="Calibri"/>
              </a:rPr>
              <a:t>Publish probability-tiered alerts (WATCH/WARNING/EMERGENCY) to the alert topic, index in Elasticsearch, surface on dashboard + emergency channels.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5623560"/>
            <a:ext cx="11155680" cy="731520"/>
          </a:xfrm>
          <a:prstGeom prst="rect">
            <a:avLst/>
          </a:prstGeom>
          <a:solidFill>
            <a:srgbClr val="F6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502920" y="5623560"/>
            <a:ext cx="566928" cy="731520"/>
          </a:xfrm>
          <a:prstGeom prst="rect">
            <a:avLst/>
          </a:prstGeom>
          <a:solidFill>
            <a:srgbClr val="4A3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02920" y="5824728"/>
            <a:ext cx="56692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O6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5696712"/>
            <a:ext cx="102412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 i="0">
                <a:solidFill>
                  <a:srgbClr val="0B0B0B"/>
                </a:solidFill>
                <a:latin typeface="Calibri"/>
              </a:rPr>
              <a:t>O6 - Evaluation &amp; adaptation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280160" y="6007608"/>
            <a:ext cx="102412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52514E"/>
                </a:solidFill>
                <a:latin typeface="Calibri"/>
              </a:rPr>
              <a:t>Measure latency/throughput/detection quality continuously; retrain on drift via Evidently + Prefect + MLflow.</a:t>
            </a: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7F1CA7B9-C108-819C-2A90-0317C6949E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6800"/>
            <a:ext cx="1767840" cy="681515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0239AD2D-4CDE-4C42-4D76-7EB87E9006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742" y="207040"/>
            <a:ext cx="1554196" cy="310839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E349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60520" y="413601"/>
            <a:ext cx="11155680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lang="en-US" sz="3600" b="1" i="0">
                <a:solidFill>
                  <a:schemeClr val="accent6">
                    <a:lumMod val="75000"/>
                  </a:schemeClr>
                </a:solidFill>
                <a:latin typeface="Calibri"/>
              </a:rPr>
              <a:t>METHODOLOGY</a:t>
            </a:r>
            <a:endParaRPr sz="3600" b="1" i="0">
              <a:solidFill>
                <a:schemeClr val="accent6">
                  <a:lumMod val="75000"/>
                </a:schemeClr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292840" y="6455664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000" b="0" i="0">
                <a:solidFill>
                  <a:srgbClr val="898781"/>
                </a:solidFill>
                <a:latin typeface="Calibri"/>
              </a:rPr>
              <a:t>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98781"/>
                </a:solidFill>
                <a:latin typeface="Calibri"/>
              </a:rPr>
              <a:t>Real-Time Forest Fire Detection | Kafka &amp; Stream Processing</a:t>
            </a:r>
          </a:p>
        </p:txBody>
      </p:sp>
      <p:pic>
        <p:nvPicPr>
          <p:cNvPr id="7" name="Picture 6" descr="methodology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8119" y="1417320"/>
            <a:ext cx="9811001" cy="489204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6E28F68-650B-D5CB-BC22-AC2DB13E5A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6800"/>
            <a:ext cx="1767840" cy="68151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2000C58-0004-40B9-00B0-C79AB9D761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15742" y="207040"/>
            <a:ext cx="1554196" cy="310839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E349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921144"/>
            <a:ext cx="1115568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700" b="1" i="0">
                <a:solidFill>
                  <a:srgbClr val="0B0B0B"/>
                </a:solidFill>
                <a:latin typeface="Calibri"/>
              </a:rPr>
              <a:t>Kafka Design Decisions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55664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000" b="0" i="0">
                <a:solidFill>
                  <a:srgbClr val="898781"/>
                </a:solidFill>
                <a:latin typeface="Calibri"/>
              </a:rPr>
              <a:t>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98781"/>
                </a:solidFill>
                <a:latin typeface="Calibri"/>
              </a:rPr>
              <a:t>Real-Time Forest Fire Detection | Kafka &amp; Stream Processing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554480"/>
          <a:ext cx="11155680" cy="35478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63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Element</a:t>
                      </a:r>
                    </a:p>
                  </a:txBody>
                  <a:tcPr marL="73152" marR="54864" marT="27432" marB="27432" anchor="ctr">
                    <a:solidFill>
                      <a:srgbClr val="2A78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Design</a:t>
                      </a:r>
                    </a:p>
                  </a:txBody>
                  <a:tcPr marL="73152" marR="54864" marT="27432" marB="27432" anchor="ctr">
                    <a:solidFill>
                      <a:srgbClr val="2A78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Rationale</a:t>
                      </a:r>
                    </a:p>
                  </a:txBody>
                  <a:tcPr marL="73152" marR="54864" marT="27432" marB="27432" anchor="ctr">
                    <a:solidFill>
                      <a:srgbClr val="2A78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wildfire.raw topic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6 partitions, replication 3, key = grid-cell id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Per-cell ordering; parallelism across brokers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wildfire.features topic</a:t>
                      </a:r>
                    </a:p>
                  </a:txBody>
                  <a:tcPr marL="73152" marR="54864" marT="27432" marB="27432" anchor="ctr">
                    <a:solidFill>
                      <a:srgbClr val="F6F5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3 partitions, compacted</a:t>
                      </a:r>
                    </a:p>
                  </a:txBody>
                  <a:tcPr marL="73152" marR="54864" marT="27432" marB="27432" anchor="ctr">
                    <a:solidFill>
                      <a:srgbClr val="F6F5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Latest window state per cell recoverable on restart</a:t>
                      </a:r>
                    </a:p>
                  </a:txBody>
                  <a:tcPr marL="73152" marR="54864" marT="27432" marB="27432" anchor="ctr">
                    <a:solidFill>
                      <a:srgbClr val="F6F5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wildfire.alerts topic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3 partitions, key = region, retention 90 d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Fan-out to ES, dashboard, SMS consumers independently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Windowing</a:t>
                      </a:r>
                    </a:p>
                  </a:txBody>
                  <a:tcPr marL="73152" marR="54864" marT="27432" marB="27432" anchor="ctr">
                    <a:solidFill>
                      <a:srgbClr val="F6F5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Tumbling 1-min (aggregates); sliding 24-h (indices); session 30-min per cell</a:t>
                      </a:r>
                    </a:p>
                  </a:txBody>
                  <a:tcPr marL="73152" marR="54864" marT="27432" marB="27432" anchor="ctr">
                    <a:solidFill>
                      <a:srgbClr val="F6F5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Matches bursty fire arrivals found in EDA 6/6</a:t>
                      </a:r>
                    </a:p>
                  </a:txBody>
                  <a:tcPr marL="73152" marR="54864" marT="27432" marB="27432" anchor="ctr">
                    <a:solidFill>
                      <a:srgbClr val="F6F5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Delivery semantics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Idempotent producer + transactions → exactly-once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No duplicate emergency alerts, no lost events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Failure handling</a:t>
                      </a:r>
                    </a:p>
                  </a:txBody>
                  <a:tcPr marL="73152" marR="54864" marT="27432" marB="27432" anchor="ctr">
                    <a:solidFill>
                      <a:srgbClr val="F6F5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DLQ topic for schema failures; watermark 2-min for late data</a:t>
                      </a:r>
                    </a:p>
                  </a:txBody>
                  <a:tcPr marL="73152" marR="54864" marT="27432" marB="27432" anchor="ctr">
                    <a:solidFill>
                      <a:srgbClr val="F6F5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Fault-tolerant like Mohapatra'16; replayable like Zaharia'12</a:t>
                      </a:r>
                    </a:p>
                  </a:txBody>
                  <a:tcPr marL="73152" marR="54864" marT="27432" marB="27432" anchor="ctr">
                    <a:solidFill>
                      <a:srgbClr val="F6F5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Consumer group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stream-processors (Kafka Streams app)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Horizontal scale; state stores for windowed features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E897D61F-0B3A-E2A6-3F2A-16941EB1E0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6800"/>
            <a:ext cx="1767840" cy="68151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2380BDF-B1EE-5C6C-725E-24FB0382FA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742" y="207040"/>
            <a:ext cx="1554196" cy="310839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E349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E34948"/>
                </a:solidFill>
                <a:latin typeface="Calibri"/>
              </a:rPr>
              <a:t>06 PROPOSED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2225"/>
            <a:ext cx="1115568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700" b="1" i="0">
                <a:solidFill>
                  <a:srgbClr val="0B0B0B"/>
                </a:solidFill>
                <a:latin typeface="Calibri"/>
              </a:rPr>
              <a:t>Model Stack, Serving &amp; Alert Logic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55664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000" b="0" i="0">
                <a:solidFill>
                  <a:srgbClr val="898781"/>
                </a:solidFill>
                <a:latin typeface="Calibri"/>
              </a:rPr>
              <a:t>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98781"/>
                </a:solidFill>
                <a:latin typeface="Calibri"/>
              </a:rPr>
              <a:t>Real-Time Forest Fire Detection | Kafka &amp; Stream Processing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554480"/>
          <a:ext cx="6766560" cy="22494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 marL="73152" marR="54864" marT="27432" marB="27432" anchor="ctr">
                    <a:solidFill>
                      <a:srgbClr val="2A78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Input</a:t>
                      </a:r>
                    </a:p>
                  </a:txBody>
                  <a:tcPr marL="73152" marR="54864" marT="27432" marB="27432" anchor="ctr">
                    <a:solidFill>
                      <a:srgbClr val="2A78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Role</a:t>
                      </a:r>
                    </a:p>
                  </a:txBody>
                  <a:tcPr marL="73152" marR="54864" marT="27432" marB="27432" anchor="ctr">
                    <a:solidFill>
                      <a:srgbClr val="2A78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 (MLflow)</a:t>
                      </a:r>
                    </a:p>
                  </a:txBody>
                  <a:tcPr marL="73152" marR="54864" marT="27432" marB="27432" anchor="ctr">
                    <a:solidFill>
                      <a:srgbClr val="2A78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B0B0B"/>
                          </a:solidFill>
                          <a:latin typeface="Calibri"/>
                        </a:rPr>
                        <a:t>Random Forest + SMOTEN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B0B0B"/>
                          </a:solidFill>
                          <a:latin typeface="Calibri"/>
                        </a:rPr>
                        <a:t>17 tabular features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B0B0B"/>
                          </a:solidFill>
                          <a:latin typeface="Calibri"/>
                        </a:rPr>
                        <a:t>Fast baseline on stream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B0B0B"/>
                          </a:solidFill>
                          <a:latin typeface="Calibri"/>
                        </a:rPr>
                        <a:t>AUC 0.65, recall 0.69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B0B0B"/>
                          </a:solidFill>
                          <a:latin typeface="Calibri"/>
                        </a:rPr>
                        <a:t>XGBoost + SMOTEN</a:t>
                      </a:r>
                    </a:p>
                  </a:txBody>
                  <a:tcPr marL="73152" marR="54864" marT="27432" marB="27432" anchor="ctr">
                    <a:solidFill>
                      <a:srgbClr val="F6F5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B0B0B"/>
                          </a:solidFill>
                          <a:latin typeface="Calibri"/>
                        </a:rPr>
                        <a:t>17 tabular features</a:t>
                      </a:r>
                    </a:p>
                  </a:txBody>
                  <a:tcPr marL="73152" marR="54864" marT="27432" marB="27432" anchor="ctr">
                    <a:solidFill>
                      <a:srgbClr val="F6F5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B0B0B"/>
                          </a:solidFill>
                          <a:latin typeface="Calibri"/>
                        </a:rPr>
                        <a:t>Primary tabular detector</a:t>
                      </a:r>
                    </a:p>
                  </a:txBody>
                  <a:tcPr marL="73152" marR="54864" marT="27432" marB="27432" anchor="ctr">
                    <a:solidFill>
                      <a:srgbClr val="F6F5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B0B0B"/>
                          </a:solidFill>
                          <a:latin typeface="Calibri"/>
                        </a:rPr>
                        <a:t>AUC 0.67, recall 0.65</a:t>
                      </a:r>
                    </a:p>
                  </a:txBody>
                  <a:tcPr marL="73152" marR="54864" marT="27432" marB="27432" anchor="ctr">
                    <a:solidFill>
                      <a:srgbClr val="F6F5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B0B0B"/>
                          </a:solidFill>
                          <a:latin typeface="Calibri"/>
                        </a:rPr>
                        <a:t>LSTM (seq=7)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B0B0B"/>
                          </a:solidFill>
                          <a:latin typeface="Calibri"/>
                        </a:rPr>
                        <a:t>7-day feature sequence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B0B0B"/>
                          </a:solidFill>
                          <a:latin typeface="Calibri"/>
                        </a:rPr>
                        <a:t>Temporal pattern detector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B0B0B"/>
                          </a:solidFill>
                          <a:latin typeface="Calibri"/>
                        </a:rPr>
                        <a:t>Training logged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B0B0B"/>
                          </a:solidFill>
                          <a:latin typeface="Calibri"/>
                        </a:rPr>
                        <a:t>ConvLSTM (10×10 grid)</a:t>
                      </a:r>
                    </a:p>
                  </a:txBody>
                  <a:tcPr marL="73152" marR="54864" marT="27432" marB="27432" anchor="ctr">
                    <a:solidFill>
                      <a:srgbClr val="F6F5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B0B0B"/>
                          </a:solidFill>
                          <a:latin typeface="Calibri"/>
                        </a:rPr>
                        <a:t>Spatial grid sequence</a:t>
                      </a:r>
                    </a:p>
                  </a:txBody>
                  <a:tcPr marL="73152" marR="54864" marT="27432" marB="27432" anchor="ctr">
                    <a:solidFill>
                      <a:srgbClr val="F6F5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B0B0B"/>
                          </a:solidFill>
                          <a:latin typeface="Calibri"/>
                        </a:rPr>
                        <a:t>Spatial spread detector</a:t>
                      </a:r>
                    </a:p>
                  </a:txBody>
                  <a:tcPr marL="73152" marR="54864" marT="27432" marB="27432" anchor="ctr">
                    <a:solidFill>
                      <a:srgbClr val="F6F5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B0B0B"/>
                          </a:solidFill>
                          <a:latin typeface="Calibri"/>
                        </a:rPr>
                        <a:t>Training logged</a:t>
                      </a:r>
                    </a:p>
                  </a:txBody>
                  <a:tcPr marL="73152" marR="54864" marT="27432" marB="27432" anchor="ctr">
                    <a:solidFill>
                      <a:srgbClr val="F6F5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7589520" y="1554480"/>
            <a:ext cx="4069080" cy="3017520"/>
          </a:xfrm>
          <a:prstGeom prst="rect">
            <a:avLst/>
          </a:prstGeom>
          <a:solidFill>
            <a:srgbClr val="F6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818120" y="169164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E34948"/>
                </a:solidFill>
                <a:latin typeface="Calibri"/>
              </a:rPr>
              <a:t>ALERT TIERS (on Fire Prediction)</a:t>
            </a:r>
          </a:p>
        </p:txBody>
      </p:sp>
      <p:sp>
        <p:nvSpPr>
          <p:cNvPr id="10" name="Rectangle 9"/>
          <p:cNvSpPr/>
          <p:nvPr/>
        </p:nvSpPr>
        <p:spPr>
          <a:xfrm>
            <a:off x="7818120" y="2103120"/>
            <a:ext cx="3611880" cy="658368"/>
          </a:xfrm>
          <a:prstGeom prst="rect">
            <a:avLst/>
          </a:prstGeom>
          <a:solidFill>
            <a:srgbClr val="FFFFFF"/>
          </a:solidFill>
          <a:ln w="19050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001000" y="2176272"/>
            <a:ext cx="3291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 i="0">
                <a:solidFill>
                  <a:srgbClr val="2A78D6"/>
                </a:solidFill>
                <a:latin typeface="Calibri"/>
              </a:rPr>
              <a:t>WATCH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01000" y="2450592"/>
            <a:ext cx="3291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52514E"/>
                </a:solidFill>
                <a:latin typeface="Calibri"/>
              </a:rPr>
              <a:t>p &gt; 0.50  and ERC &gt; 45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18120" y="2889504"/>
            <a:ext cx="3611880" cy="658368"/>
          </a:xfrm>
          <a:prstGeom prst="rect">
            <a:avLst/>
          </a:prstGeom>
          <a:solidFill>
            <a:srgbClr val="FFFFFF"/>
          </a:solidFill>
          <a:ln w="19050">
            <a:solidFill>
              <a:srgbClr val="EB68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001000" y="2962656"/>
            <a:ext cx="3291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 i="0">
                <a:solidFill>
                  <a:srgbClr val="EB6834"/>
                </a:solidFill>
                <a:latin typeface="Calibri"/>
              </a:rPr>
              <a:t>WARNING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01000" y="3236976"/>
            <a:ext cx="3291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52514E"/>
                </a:solidFill>
                <a:latin typeface="Calibri"/>
              </a:rPr>
              <a:t>p &gt; 0.70  and ERC &gt; 60  and fm100 &lt; 10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818120" y="3675888"/>
            <a:ext cx="3611880" cy="658368"/>
          </a:xfrm>
          <a:prstGeom prst="rect">
            <a:avLst/>
          </a:prstGeom>
          <a:solidFill>
            <a:srgbClr val="FFFFFF"/>
          </a:solidFill>
          <a:ln w="19050">
            <a:solidFill>
              <a:srgbClr val="E34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001000" y="3749040"/>
            <a:ext cx="3291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 i="0">
                <a:solidFill>
                  <a:srgbClr val="E34948"/>
                </a:solidFill>
                <a:latin typeface="Calibri"/>
              </a:rPr>
              <a:t>EMERGENCY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01000" y="4023360"/>
            <a:ext cx="3291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52514E"/>
                </a:solidFill>
                <a:latin typeface="Calibri"/>
              </a:rPr>
              <a:t>p &gt; 0.90  and wind &gt; 8 m/s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892040"/>
            <a:ext cx="1115568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52514E"/>
                </a:solidFill>
                <a:latin typeface="Calibri"/>
              </a:rPr>
              <a:t>Serving path: Kafka Streams → feature store topic → FastAPI inference (Docker/K8s, HPA) → probability + class → alert topic. Thresholds are tuned for recall ≥ 0.70 at acceptable precision, then adjusted per ERC operating point from EDA.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52B38CAC-C082-038D-B5AD-8794562F47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6800"/>
            <a:ext cx="1767840" cy="681515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9020DB6D-4417-3167-E69D-754A967A7E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742" y="207040"/>
            <a:ext cx="1554196" cy="310839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784232"/>
            <a:ext cx="11155680" cy="4154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700" b="1" i="0">
                <a:solidFill>
                  <a:srgbClr val="0B0B0B"/>
                </a:solidFill>
                <a:latin typeface="Calibri"/>
              </a:rPr>
              <a:t>Module-wise Progress ≈ </a:t>
            </a:r>
            <a:r>
              <a:rPr lang="en-US" sz="2700" b="1" i="0">
                <a:solidFill>
                  <a:srgbClr val="0B0B0B"/>
                </a:solidFill>
                <a:latin typeface="Calibri"/>
              </a:rPr>
              <a:t>2</a:t>
            </a:r>
            <a:r>
              <a:rPr sz="2700" b="1" i="0">
                <a:solidFill>
                  <a:srgbClr val="0B0B0B"/>
                </a:solidFill>
                <a:latin typeface="Calibri"/>
              </a:rPr>
              <a:t>5% Overall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55664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000" b="0" i="0">
                <a:solidFill>
                  <a:srgbClr val="898781"/>
                </a:solidFill>
                <a:latin typeface="Calibri"/>
              </a:rPr>
              <a:t>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98781"/>
                </a:solidFill>
                <a:latin typeface="Calibri"/>
              </a:rPr>
              <a:t>Real-Time Forest Fire Detection | Kafka &amp; Stream Processing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481328"/>
            <a:ext cx="5852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0B0B0B"/>
                </a:solidFill>
                <a:latin typeface="Calibri"/>
              </a:rPr>
              <a:t>Data preprocessing &amp; cleaning (chunked, sentinel/NaN, scaling)</a:t>
            </a:r>
          </a:p>
        </p:txBody>
      </p:sp>
      <p:sp>
        <p:nvSpPr>
          <p:cNvPr id="8" name="Rectangle 7"/>
          <p:cNvSpPr/>
          <p:nvPr/>
        </p:nvSpPr>
        <p:spPr>
          <a:xfrm>
            <a:off x="6537960" y="1517904"/>
            <a:ext cx="3840480" cy="201168"/>
          </a:xfrm>
          <a:prstGeom prst="rect">
            <a:avLst/>
          </a:prstGeom>
          <a:solidFill>
            <a:srgbClr val="E9E8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537960" y="1517904"/>
            <a:ext cx="3840480" cy="201168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515600" y="1481328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1BAF7A"/>
                </a:solidFill>
                <a:latin typeface="Calibri"/>
              </a:rPr>
              <a:t>100%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883664"/>
            <a:ext cx="5852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0B0B0B"/>
                </a:solidFill>
                <a:latin typeface="Calibri"/>
              </a:rPr>
              <a:t>EDA &amp; feature analysis (13 charts, this deck)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37960" y="1920240"/>
            <a:ext cx="3840480" cy="201168"/>
          </a:xfrm>
          <a:prstGeom prst="rect">
            <a:avLst/>
          </a:prstGeom>
          <a:solidFill>
            <a:srgbClr val="E9E8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537960" y="1920240"/>
            <a:ext cx="3840480" cy="201168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515600" y="1883664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1BAF7A"/>
                </a:solidFill>
                <a:latin typeface="Calibri"/>
              </a:rPr>
              <a:t>100%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2286000"/>
            <a:ext cx="5852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0B0B0B"/>
                </a:solidFill>
                <a:latin typeface="Calibri"/>
              </a:rPr>
              <a:t>ML models - RF &amp; XGBoost with SMOTEN (MLflow-tracked)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37960" y="2322576"/>
            <a:ext cx="3840480" cy="201168"/>
          </a:xfrm>
          <a:prstGeom prst="rect">
            <a:avLst/>
          </a:prstGeom>
          <a:solidFill>
            <a:srgbClr val="E9E8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537960" y="2322576"/>
            <a:ext cx="3840480" cy="201168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515600" y="228600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2A78D6"/>
                </a:solidFill>
                <a:latin typeface="Calibri"/>
              </a:rPr>
              <a:t>100%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2688336"/>
            <a:ext cx="5852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0B0B0B"/>
                </a:solidFill>
                <a:latin typeface="Calibri"/>
              </a:rPr>
              <a:t>DL models - LSTM &amp; ConvLSTM (training + eval)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37960" y="2724912"/>
            <a:ext cx="3840480" cy="201168"/>
          </a:xfrm>
          <a:prstGeom prst="rect">
            <a:avLst/>
          </a:prstGeom>
          <a:solidFill>
            <a:srgbClr val="E9E8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537960" y="2724912"/>
            <a:ext cx="3072384" cy="201168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515600" y="2688336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2A78D6"/>
                </a:solidFill>
                <a:latin typeface="Calibri"/>
              </a:rPr>
              <a:t>80%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3090672"/>
            <a:ext cx="5852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0B0B0B"/>
                </a:solidFill>
                <a:latin typeface="Calibri"/>
              </a:rPr>
              <a:t>Inference service - FastAPI + Docker + K8s + HPA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37960" y="3127248"/>
            <a:ext cx="3840480" cy="201168"/>
          </a:xfrm>
          <a:prstGeom prst="rect">
            <a:avLst/>
          </a:prstGeom>
          <a:solidFill>
            <a:srgbClr val="E9E8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537960" y="3127248"/>
            <a:ext cx="3840480" cy="201168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0515600" y="3090672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EB6834"/>
                </a:solidFill>
                <a:latin typeface="Calibri"/>
              </a:rPr>
              <a:t>100%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3493008"/>
            <a:ext cx="5852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0B0B0B"/>
                </a:solidFill>
                <a:latin typeface="Calibri"/>
              </a:rPr>
              <a:t>Monitoring &amp; retraining - Evidently drift + Prefect + MLflow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37960" y="3529584"/>
            <a:ext cx="3840480" cy="201168"/>
          </a:xfrm>
          <a:prstGeom prst="rect">
            <a:avLst/>
          </a:prstGeom>
          <a:solidFill>
            <a:srgbClr val="E9E8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537960" y="3529584"/>
            <a:ext cx="3456432" cy="201168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515600" y="3493008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EB6834"/>
                </a:solidFill>
                <a:latin typeface="Calibri"/>
              </a:rPr>
              <a:t>90%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3895344"/>
            <a:ext cx="5852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0B0B0B"/>
                </a:solidFill>
                <a:latin typeface="Calibri"/>
              </a:rPr>
              <a:t>Dashboard - React frontend (live feed, drift, retrain pages)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537960" y="3931920"/>
            <a:ext cx="3840480" cy="201168"/>
          </a:xfrm>
          <a:prstGeom prst="rect">
            <a:avLst/>
          </a:prstGeom>
          <a:solidFill>
            <a:srgbClr val="E9E8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537960" y="3931920"/>
            <a:ext cx="3456432" cy="201168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0515600" y="3895344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EB6834"/>
                </a:solidFill>
                <a:latin typeface="Calibri"/>
              </a:rPr>
              <a:t>90%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4297680"/>
            <a:ext cx="5852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0B0B0B"/>
                </a:solidFill>
                <a:latin typeface="Calibri"/>
              </a:rPr>
              <a:t>Kafka producer &amp; raw topic (replaces HTTP stub)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537960" y="4334256"/>
            <a:ext cx="3840480" cy="201168"/>
          </a:xfrm>
          <a:prstGeom prst="rect">
            <a:avLst/>
          </a:prstGeom>
          <a:solidFill>
            <a:srgbClr val="E9E8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6537960" y="4334256"/>
            <a:ext cx="768096" cy="201168"/>
          </a:xfrm>
          <a:prstGeom prst="rect">
            <a:avLst/>
          </a:prstGeom>
          <a:solidFill>
            <a:srgbClr val="E349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0515600" y="429768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E34948"/>
                </a:solidFill>
                <a:latin typeface="Calibri"/>
              </a:rPr>
              <a:t>20%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" y="4700016"/>
            <a:ext cx="5852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0B0B0B"/>
                </a:solidFill>
                <a:latin typeface="Calibri"/>
              </a:rPr>
              <a:t>Kafka Streams - filtering, windowing, feature engineering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537960" y="4736592"/>
            <a:ext cx="3840480" cy="201168"/>
          </a:xfrm>
          <a:prstGeom prst="rect">
            <a:avLst/>
          </a:prstGeom>
          <a:solidFill>
            <a:srgbClr val="E9E8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6537960" y="4736592"/>
            <a:ext cx="384048" cy="201168"/>
          </a:xfrm>
          <a:prstGeom prst="rect">
            <a:avLst/>
          </a:prstGeom>
          <a:solidFill>
            <a:srgbClr val="E349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10515600" y="4700016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E34948"/>
                </a:solidFill>
                <a:latin typeface="Calibri"/>
              </a:rPr>
              <a:t>10%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2920" y="5102352"/>
            <a:ext cx="5852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0B0B0B"/>
                </a:solidFill>
                <a:latin typeface="Calibri"/>
              </a:rPr>
              <a:t>Alert topic + Elasticsearch + emergency channels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537960" y="5138928"/>
            <a:ext cx="3840480" cy="201168"/>
          </a:xfrm>
          <a:prstGeom prst="rect">
            <a:avLst/>
          </a:prstGeom>
          <a:solidFill>
            <a:srgbClr val="E9E8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6537960" y="5138928"/>
            <a:ext cx="0" cy="201168"/>
          </a:xfrm>
          <a:prstGeom prst="rect">
            <a:avLst/>
          </a:prstGeom>
          <a:solidFill>
            <a:srgbClr val="E349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10515600" y="5102352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E34948"/>
                </a:solidFill>
                <a:latin typeface="Calibri"/>
              </a:rPr>
              <a:t>0%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02920" y="5504688"/>
            <a:ext cx="5852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0B0B0B"/>
                </a:solidFill>
                <a:latin typeface="Calibri"/>
              </a:rPr>
              <a:t>End-to-end streaming performance evaluation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537960" y="5541264"/>
            <a:ext cx="3840480" cy="201168"/>
          </a:xfrm>
          <a:prstGeom prst="rect">
            <a:avLst/>
          </a:prstGeom>
          <a:solidFill>
            <a:srgbClr val="E9E8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6537960" y="5541264"/>
            <a:ext cx="960120" cy="201168"/>
          </a:xfrm>
          <a:prstGeom prst="rect">
            <a:avLst/>
          </a:prstGeom>
          <a:solidFill>
            <a:srgbClr val="4A3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10515600" y="5504688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4A3AA7"/>
                </a:solidFill>
                <a:latin typeface="Calibri"/>
              </a:rPr>
              <a:t>25%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02920" y="6035040"/>
            <a:ext cx="11155680" cy="502920"/>
          </a:xfrm>
          <a:prstGeom prst="rect">
            <a:avLst/>
          </a:prstGeom>
          <a:solidFill>
            <a:srgbClr val="F6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731520" y="6144768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 i="0">
                <a:solidFill>
                  <a:srgbClr val="0B0B0B"/>
                </a:solidFill>
                <a:latin typeface="Calibri"/>
              </a:rPr>
              <a:t>Overall: the batch ML/MLOps core is complete and deployed; the Kafka streaming and alerting layers are the active build.</a:t>
            </a:r>
          </a:p>
        </p:txBody>
      </p:sp>
      <p:pic>
        <p:nvPicPr>
          <p:cNvPr id="53" name="Picture 52">
            <a:extLst>
              <a:ext uri="{FF2B5EF4-FFF2-40B4-BE49-F238E27FC236}">
                <a16:creationId xmlns:a16="http://schemas.microsoft.com/office/drawing/2014/main" id="{31F7B6B8-5860-7259-5308-A8B6805BF0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6800"/>
            <a:ext cx="1767840" cy="681515"/>
          </a:xfrm>
          <a:prstGeom prst="rect">
            <a:avLst/>
          </a:prstGeom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57ED591D-0BB5-F4F1-4F81-5FC516734B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742" y="207040"/>
            <a:ext cx="1554196" cy="310839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18007" y="876799"/>
            <a:ext cx="1115568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700" b="1" i="0">
                <a:solidFill>
                  <a:srgbClr val="0B0B0B"/>
                </a:solidFill>
                <a:latin typeface="Calibri"/>
              </a:rPr>
              <a:t>Remaining Plan - Four Phases to Completion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55664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000" b="0" i="0">
                <a:solidFill>
                  <a:srgbClr val="898781"/>
                </a:solidFill>
                <a:latin typeface="Calibri"/>
              </a:rPr>
              <a:t>29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98781"/>
                </a:solidFill>
                <a:latin typeface="Calibri"/>
              </a:rPr>
              <a:t>Real-Time Forest Fire Detection | Kafka &amp; Stream Processing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645920"/>
            <a:ext cx="2011680" cy="960120"/>
          </a:xfrm>
          <a:prstGeom prst="rect">
            <a:avLst/>
          </a:prstGeom>
          <a:solidFill>
            <a:srgbClr val="E349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1847088"/>
            <a:ext cx="20116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Phase 1 (2 wks)</a:t>
            </a:r>
          </a:p>
        </p:txBody>
      </p:sp>
      <p:sp>
        <p:nvSpPr>
          <p:cNvPr id="9" name="Rectangle 8"/>
          <p:cNvSpPr/>
          <p:nvPr/>
        </p:nvSpPr>
        <p:spPr>
          <a:xfrm>
            <a:off x="2697480" y="1645920"/>
            <a:ext cx="8961120" cy="960120"/>
          </a:xfrm>
          <a:prstGeom prst="rect">
            <a:avLst/>
          </a:prstGeom>
          <a:solidFill>
            <a:srgbClr val="F6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926080" y="1737360"/>
            <a:ext cx="85039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 i="0">
                <a:solidFill>
                  <a:srgbClr val="0B0B0B"/>
                </a:solidFill>
                <a:latin typeface="Calibri"/>
              </a:rPr>
              <a:t>Kafka foundation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2048256"/>
            <a:ext cx="85039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52514E"/>
                </a:solidFill>
                <a:latin typeface="Calibri"/>
              </a:rPr>
              <a:t>KRaft cluster (3 brokers) in Docker; wildfire.raw producer from gridMET feed; schema registry; DLQ.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2743200"/>
            <a:ext cx="2011680" cy="96012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2920" y="2944368"/>
            <a:ext cx="20116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Phase 2 (3 wks)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697480" y="2743200"/>
            <a:ext cx="8961120" cy="960120"/>
          </a:xfrm>
          <a:prstGeom prst="rect">
            <a:avLst/>
          </a:prstGeom>
          <a:solidFill>
            <a:srgbClr val="F6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926080" y="2834640"/>
            <a:ext cx="85039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 i="0">
                <a:solidFill>
                  <a:srgbClr val="0B0B0B"/>
                </a:solidFill>
                <a:latin typeface="Calibri"/>
              </a:rPr>
              <a:t>Stream processing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0" y="3145536"/>
            <a:ext cx="85039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52514E"/>
                </a:solidFill>
                <a:latin typeface="Calibri"/>
              </a:rPr>
              <a:t>Kafka Streams app: validation, dedup, 1-min tumbling + 24-h sliding windows, rolling feature aggregates.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3840480"/>
            <a:ext cx="2011680" cy="96012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02920" y="4041648"/>
            <a:ext cx="20116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Phase 3 (2 wks)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697480" y="3840480"/>
            <a:ext cx="8961120" cy="960120"/>
          </a:xfrm>
          <a:prstGeom prst="rect">
            <a:avLst/>
          </a:prstGeom>
          <a:solidFill>
            <a:srgbClr val="F6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926080" y="3931920"/>
            <a:ext cx="85039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 i="0">
                <a:solidFill>
                  <a:srgbClr val="0B0B0B"/>
                </a:solidFill>
                <a:latin typeface="Calibri"/>
              </a:rPr>
              <a:t>Alerting &amp; search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26080" y="4242816"/>
            <a:ext cx="85039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52514E"/>
                </a:solidFill>
                <a:latin typeface="Calibri"/>
              </a:rPr>
              <a:t>Fire Prediction → wildfire.alerts; Elasticsearch indexing; Kibana board; dashboard + SMS/e-mail dispatch.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4937760"/>
            <a:ext cx="2011680" cy="960120"/>
          </a:xfrm>
          <a:prstGeom prst="rect">
            <a:avLst/>
          </a:prstGeom>
          <a:solidFill>
            <a:srgbClr val="4A3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02920" y="5138928"/>
            <a:ext cx="20116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Phase 4 (2 wks)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697480" y="4937760"/>
            <a:ext cx="8961120" cy="960120"/>
          </a:xfrm>
          <a:prstGeom prst="rect">
            <a:avLst/>
          </a:prstGeom>
          <a:solidFill>
            <a:srgbClr val="F6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926080" y="5029200"/>
            <a:ext cx="85039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 i="0">
                <a:solidFill>
                  <a:srgbClr val="0B0B0B"/>
                </a:solidFill>
                <a:latin typeface="Calibri"/>
              </a:rPr>
              <a:t>Evaluation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26080" y="5340096"/>
            <a:ext cx="85039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52514E"/>
                </a:solidFill>
                <a:latin typeface="Calibri"/>
              </a:rPr>
              <a:t>Latency p50/p95, throughput at 1k/10k events/s, detection quality on replayed data, drift-triggered retrain E2E.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126480"/>
            <a:ext cx="11155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52514E"/>
                </a:solidFill>
                <a:latin typeface="Calibri"/>
              </a:rPr>
              <a:t>Target: fully streaming end-to-end demo + evaluation report within 9 weeks.</a:t>
            </a: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B2142007-08C0-79CF-9804-429B4D7579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6800"/>
            <a:ext cx="1767840" cy="681515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23F0C0DB-90E4-8104-417E-24D76920B4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742" y="207040"/>
            <a:ext cx="1554196" cy="310839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8987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898781"/>
                </a:solidFill>
                <a:latin typeface="Calibri"/>
              </a:rPr>
              <a:t>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8007" y="911173"/>
            <a:ext cx="1115568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700" b="1" i="0">
                <a:solidFill>
                  <a:srgbClr val="0B0B0B"/>
                </a:solidFill>
                <a:latin typeface="Calibri"/>
              </a:rPr>
              <a:t>References (1/2) - Papers 1-12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55664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000" b="0" i="0">
                <a:solidFill>
                  <a:srgbClr val="898781"/>
                </a:solidFill>
                <a:latin typeface="Calibri"/>
              </a:rPr>
              <a:t>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98781"/>
                </a:solidFill>
                <a:latin typeface="Calibri"/>
              </a:rPr>
              <a:t>Real-Time Forest Fire Detection | Kafka &amp; Stream Processing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54480"/>
            <a:ext cx="11155680" cy="4754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050" b="0" i="0">
                <a:solidFill>
                  <a:srgbClr val="52514E"/>
                </a:solidFill>
                <a:latin typeface="Calibri"/>
              </a:rPr>
              <a:t>[1]  Abatzoglou, J. T. (2013). Development of gridded surface meteorological data for ecological applications and modelling. Int. J. of Climatology, 33, 121-131.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050" b="0" i="0">
                <a:solidFill>
                  <a:srgbClr val="52514E"/>
                </a:solidFill>
                <a:latin typeface="Calibri"/>
              </a:rPr>
              <a:t>[2]  Alkhatib, A. A. A. (2014). A review on forest fire detection techniques. Int. J. of Distributed Sensor Networks, 10(3).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050" b="0" i="0">
                <a:solidFill>
                  <a:srgbClr val="52514E"/>
                </a:solidFill>
                <a:latin typeface="Calibri"/>
              </a:rPr>
              <a:t>[3]  Anastasiou, N., &amp; Kondylatos, S. (2026). Wildfire spread forecasting with deep learning. IEEE Access.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050" b="0" i="0">
                <a:solidFill>
                  <a:srgbClr val="52514E"/>
                </a:solidFill>
                <a:latin typeface="Calibri"/>
              </a:rPr>
              <a:t>[4]  Andrianarivony, H. S., &amp; Akhloufi, M. A. (2024). Machine learning and deep learning for wildfire spread prediction: A review. Fire, 7(2).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050" b="0" i="0">
                <a:solidFill>
                  <a:srgbClr val="52514E"/>
                </a:solidFill>
                <a:latin typeface="Calibri"/>
              </a:rPr>
              <a:t>[5]  Barmpoutis, P., Papaioannou, P., Dimitropoulos, K., &amp; Voulodimos, D. (2020). A review on early forest fire detection systems using optical remote sensing. Sensors, 20(22), 6442.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050" b="0" i="0">
                <a:solidFill>
                  <a:srgbClr val="52514E"/>
                </a:solidFill>
                <a:latin typeface="Calibri"/>
              </a:rPr>
              <a:t>[6]  Bot, K., &amp; Borges, J. G. (2022). A systematic review of applications of machine learning techniques for wildfire fire management. Inventions, 7(3), 84.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050" b="0" i="0">
                <a:solidFill>
                  <a:srgbClr val="52514E"/>
                </a:solidFill>
                <a:latin typeface="Calibri"/>
              </a:rPr>
              <a:t>[7]  Chauhan, A., Semwal, S., et al. (2013). Artificial neural network-based forest fire detection system using wireless sensor networks. IEEE INDICON.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050" b="0" i="0">
                <a:solidFill>
                  <a:srgbClr val="52514E"/>
                </a:solidFill>
                <a:latin typeface="Calibri"/>
              </a:rPr>
              <a:t>[8]  Cortez, P., &amp; Morais, A. (2007). A data mining approach to predict forest fires using meteorological data. New Trends in Artificial Intelligence (EPIA), 512-523.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050" b="0" i="0">
                <a:solidFill>
                  <a:srgbClr val="52514E"/>
                </a:solidFill>
                <a:latin typeface="Calibri"/>
              </a:rPr>
              <a:t>[9]  Davis, M., Shekaramiz, M., et al. (2023). Desert/forest fire detection using machine/deep learning techniques. Fire, 6(3), 113.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050" b="0" i="0">
                <a:solidFill>
                  <a:srgbClr val="52514E"/>
                </a:solidFill>
                <a:latin typeface="Calibri"/>
              </a:rPr>
              <a:t>[10]  Huot, F., Hu, R. L., Lakshmanan, V., &amp; Bhatia, A. (2022). Next day wildfire spread: A machine learning dataset to predict wildfire spreading from remote-sensing data. IEEE TGRS, 60.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050" b="0" i="0">
                <a:solidFill>
                  <a:srgbClr val="52514E"/>
                </a:solidFill>
                <a:latin typeface="Calibri"/>
              </a:rPr>
              <a:t>[11]  Isah, H., Abughofa, T., Mahfuz, S., Ajerla, D., Zulkernine, F., &amp; Khan, S. (2019). A survey of distributed data stream processing frameworks. IEEE Access, 7, 154300-154316.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050" b="0" i="0">
                <a:solidFill>
                  <a:srgbClr val="52514E"/>
                </a:solidFill>
                <a:latin typeface="Calibri"/>
              </a:rPr>
              <a:t>[12]  Jain, P., Coogan, S. C. P., Subramanian, S. G., Crowley, M., Taylor, S., &amp; Flannigan, M. D. (2020). A review of machine learning applications in wildfire science and management. Environmental Reviews, 28(4), 478-505.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2C4A823-4538-5B81-3E33-9366FEABCA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6800"/>
            <a:ext cx="1767840" cy="68151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866B84B-C966-3AB3-AECC-7712C302B2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742" y="207040"/>
            <a:ext cx="1554196" cy="310839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8987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898781"/>
                </a:solidFill>
                <a:latin typeface="Calibri"/>
              </a:rPr>
              <a:t>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8007" y="810873"/>
            <a:ext cx="1115568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700" b="1" i="0">
                <a:solidFill>
                  <a:srgbClr val="0B0B0B"/>
                </a:solidFill>
                <a:latin typeface="Calibri"/>
              </a:rPr>
              <a:t>References (2/2) - Papers 13-34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55664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000" b="0" i="0">
                <a:solidFill>
                  <a:srgbClr val="898781"/>
                </a:solidFill>
                <a:latin typeface="Calibri"/>
              </a:rPr>
              <a:t>31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98781"/>
                </a:solidFill>
                <a:latin typeface="Calibri"/>
              </a:rPr>
              <a:t>Real-Time Forest Fire Detection | Kafka &amp; Stream Processing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54480"/>
            <a:ext cx="11155680" cy="48433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900" b="0" i="0">
                <a:solidFill>
                  <a:srgbClr val="52514E"/>
                </a:solidFill>
                <a:latin typeface="Calibri"/>
              </a:rPr>
              <a:t>[13]  Kim, J., &amp; Hu, Y. (2025). Assessment of deep learning models integrated with weather and environmental variables for wildfire spread prediction. Natural Hazards.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900" b="0" i="0">
                <a:solidFill>
                  <a:srgbClr val="52514E"/>
                </a:solidFill>
                <a:latin typeface="Calibri"/>
              </a:rPr>
              <a:t>[14]  Korycki, L., &amp; Krawczyk, B. (2022). Adversarial concept drift detection under poisoning attacks for robust data streams. Machine Learning, 111.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900" b="0" i="0">
                <a:solidFill>
                  <a:srgbClr val="52514E"/>
                </a:solidFill>
                <a:latin typeface="Calibri"/>
              </a:rPr>
              <a:t>[15]  Krawczyk, B., Pfahringer, B., et al. (2018). Combining active learning with concept drift detection for data stream mining. IEEE ICMLA.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900" b="0" i="0">
                <a:solidFill>
                  <a:srgbClr val="52514E"/>
                </a:solidFill>
                <a:latin typeface="Calibri"/>
              </a:rPr>
              <a:t>[16]  Kreps, J., Narkhede, N., &amp; Rao, J. (2011). Kafka: A distributed messaging system for log processing. Proc. NetDB'11.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900" b="0" i="0">
                <a:solidFill>
                  <a:srgbClr val="52514E"/>
                </a:solidFill>
                <a:latin typeface="Calibri"/>
              </a:rPr>
              <a:t>[17]  Marjani, M., Mahdianpari, M., &amp; Mohammadimanesh, F. (2024). CNN-BiLSTM: A novel deep learning model for near-real-time daily wildfire spread prediction. Remote Sensing, 16(8), 1357.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900" b="0" i="0">
                <a:solidFill>
                  <a:srgbClr val="52514E"/>
                </a:solidFill>
                <a:latin typeface="Calibri"/>
              </a:rPr>
              <a:t>[18]  Martin-Gomez, V., et al. (2026). Daily fire danger prediction in Catalonia using machine learning. (in press).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900" b="0" i="0">
                <a:solidFill>
                  <a:srgbClr val="52514E"/>
                </a:solidFill>
                <a:latin typeface="Calibri"/>
              </a:rPr>
              <a:t>[19]  Mohapatra, S., &amp; Khilar, P. M. (2016). Forest fire monitoring and detection of faulty nodes using wireless sensor networks. IEEE TENCON.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900" b="0" i="0">
                <a:solidFill>
                  <a:srgbClr val="52514E"/>
                </a:solidFill>
                <a:latin typeface="Calibri"/>
              </a:rPr>
              <a:t>[20]  Mu, L., &amp; Yang, Y. (2025). Edge computing-based real-time forest fire detection using UAV thermal and color imagery. IEEE JSTARS.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900" b="0" i="0">
                <a:solidFill>
                  <a:srgbClr val="52514E"/>
                </a:solidFill>
                <a:latin typeface="Calibri"/>
              </a:rPr>
              <a:t>[21]  Nasiri, H., Nasehi, S., &amp; Divsalar, M. (2019). Evaluation of distributed stream processing frameworks for IoT applications in Smart Cities. Journal of Big Data, 6, 61.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900" b="0" i="0">
                <a:solidFill>
                  <a:srgbClr val="52514E"/>
                </a:solidFill>
                <a:latin typeface="Calibri"/>
              </a:rPr>
              <a:t>[22]  Nguyen Van, L., &amp; Lee, G. (2025). Optimizing stacked ensemble machine learning models for accurate wildfire spread prediction. Remote Sensing, 17(9).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900" b="0" i="0">
                <a:solidFill>
                  <a:srgbClr val="52514E"/>
                </a:solidFill>
                <a:latin typeface="Calibri"/>
              </a:rPr>
              <a:t>[23]  Radke, D., Hessler, A., &amp; Long, D. (2019). FireCast: Leveraging deep learning to predict wildfire spread. IJCAI 2019, 4575-4581.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900" b="0" i="0">
                <a:solidFill>
                  <a:srgbClr val="52514E"/>
                </a:solidFill>
                <a:latin typeface="Calibri"/>
              </a:rPr>
              <a:t>[24]  Sakr, G. E., Elhajj, I. H., Mitri, G., &amp; Wehbe, C. S. (2010). Artificial intelligence for forest fire prediction. IEEE/ASME Int. Conf. on Advanced Intelligent Mechatronics.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900" b="0" i="0">
                <a:solidFill>
                  <a:srgbClr val="52514E"/>
                </a:solidFill>
                <a:latin typeface="Calibri"/>
              </a:rPr>
              <a:t>[25]  Sayad, Y. O., Mousannif, H., &amp; Al Moatassime, H. (2019). Predictive modeling of wildfires: A new dataset and machine learning approach. Fire Safety Journal, 104, 130-146.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900" b="0" i="0">
                <a:solidFill>
                  <a:srgbClr val="52514E"/>
                </a:solidFill>
                <a:latin typeface="Calibri"/>
              </a:rPr>
              <a:t>[26]  Shi, X., Chen, Z., Wang, H., Yeung, D.-Y., Wong, W.-K., &amp; Woo, W.-C. (2015). Convolutional LSTM network: A machine learning approach for precipitation nowcasting. NeurIPS 28.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900" b="0" i="0">
                <a:solidFill>
                  <a:srgbClr val="52514E"/>
                </a:solidFill>
                <a:latin typeface="Calibri"/>
              </a:rPr>
              <a:t>[27]  Shmuel, A., &amp; Heifetz, E. (2022). Global wildfire susceptibility mapping based on machine learning models. Forests, 13(6), 908.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900" b="0" i="0">
                <a:solidFill>
                  <a:srgbClr val="52514E"/>
                </a:solidFill>
                <a:latin typeface="Calibri"/>
              </a:rPr>
              <a:t>[28]  Tao, Y., &amp; Li, B. (2025). Improved lightweight YOLOv11 algorithm for real-time forest fire detection. Electronics, 14.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900" b="0" i="0">
                <a:solidFill>
                  <a:srgbClr val="52514E"/>
                </a:solidFill>
                <a:latin typeface="Calibri"/>
              </a:rPr>
              <a:t>[29]  van Dongen, G., &amp; Van Den Poel, D. (2021). A performance analysis of fault recovery in stream processing frameworks. IEEE Access, 9.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900" b="0" i="0">
                <a:solidFill>
                  <a:srgbClr val="52514E"/>
                </a:solidFill>
                <a:latin typeface="Calibri"/>
              </a:rPr>
              <a:t>[30]  Wang, G., &amp; Li, H. (2025). DPMNet: A remote sensing forest fire real-time detection network driven by dual-perspective multiscale features. IEEE TCAS-I.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900" b="0" i="0">
                <a:solidFill>
                  <a:srgbClr val="52514E"/>
                </a:solidFill>
                <a:latin typeface="Calibri"/>
              </a:rPr>
              <a:t>[31]  Wares, S., Isaacs, J., &amp; Brooks, E. (2019). Data stream mining: methods and challenges for handling concept drift. SN Applied Sciences, 1, 242.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900" b="0" i="0">
                <a:solidFill>
                  <a:srgbClr val="52514E"/>
                </a:solidFill>
                <a:latin typeface="Calibri"/>
              </a:rPr>
              <a:t>[32]  Zaharia, M., Das, T., Li, H., Hunter, T., Shenker, S., &amp; Stoica, I. (2012). Discretized streams: Fault-tolerant streaming computation at scale. NSDI'12.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900" b="0" i="0">
                <a:solidFill>
                  <a:srgbClr val="52514E"/>
                </a:solidFill>
                <a:latin typeface="Calibri"/>
              </a:rPr>
              <a:t>[33]  Zakari, R., &amp; Malik, O. A. (2025). An enhanced wildfire spread prediction using multimodal satellite imagery and deep learning. Remote Sens. Appl.: Soc. Environ.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A0980DF-ED88-E9A9-15C8-5797E14E94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6800"/>
            <a:ext cx="1767840" cy="68151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F8BCBD3-6AAE-804E-3551-B9427C4280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742" y="207040"/>
            <a:ext cx="1554196" cy="310839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6150685"/>
            <a:ext cx="12191695" cy="3810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210377" y="2063661"/>
            <a:ext cx="9305365" cy="18466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lang="en-US" sz="12000" b="1" i="0">
                <a:latin typeface="Calibri"/>
              </a:rPr>
              <a:t>Thank you</a:t>
            </a:r>
            <a:endParaRPr sz="12000" b="1" i="0"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611419" y="6365935"/>
            <a:ext cx="1051560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8B93A6"/>
                </a:solidFill>
                <a:latin typeface="Calibri"/>
              </a:rPr>
              <a:t>Real-Time Forest Fire Detection System  |  Kafka · Kafka Streams · ML/DL · Elasticsearch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2DEA70C-A15A-8BBA-96A6-E04FB366DC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6800"/>
            <a:ext cx="1767840" cy="68151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43C4285-82CF-BF14-8F03-489DF3F5DC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742" y="207040"/>
            <a:ext cx="1554196" cy="31083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5853</Words>
  <Application>Microsoft Macintosh PowerPoint</Application>
  <PresentationFormat>Widescreen</PresentationFormat>
  <Paragraphs>547</Paragraphs>
  <Slides>32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7" baseType="lpstr">
      <vt:lpstr>Arial</vt:lpstr>
      <vt:lpstr>Calibri</vt:lpstr>
      <vt:lpstr>Times New Roman</vt:lpstr>
      <vt:lpstr>YAGzXW3gftg_0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Pratham Mallya</cp:lastModifiedBy>
  <cp:revision>3</cp:revision>
  <dcterms:created xsi:type="dcterms:W3CDTF">2013-01-27T09:14:16Z</dcterms:created>
  <dcterms:modified xsi:type="dcterms:W3CDTF">2026-10-03T16:22:23Z</dcterms:modified>
  <cp:category/>
</cp:coreProperties>
</file>